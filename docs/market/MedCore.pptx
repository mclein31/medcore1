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1"/>
  </p:notesMasterIdLst>
  <p:sldIdLst>
    <p:sldId id="268" r:id="rId2"/>
    <p:sldId id="269" r:id="rId3"/>
    <p:sldId id="270" r:id="rId4"/>
    <p:sldId id="260" r:id="rId5"/>
    <p:sldId id="261" r:id="rId6"/>
    <p:sldId id="276" r:id="rId7"/>
    <p:sldId id="277" r:id="rId8"/>
    <p:sldId id="271" r:id="rId9"/>
    <p:sldId id="257"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B8"/>
    <a:srgbClr val="FFB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47" autoAdjust="0"/>
    <p:restoredTop sz="94524"/>
  </p:normalViewPr>
  <p:slideViewPr>
    <p:cSldViewPr snapToGrid="0" snapToObjects="1">
      <p:cViewPr varScale="1">
        <p:scale>
          <a:sx n="124" d="100"/>
          <a:sy n="124" d="100"/>
        </p:scale>
        <p:origin x="192" y="7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r>
              <a:rPr lang="en-US" dirty="0"/>
              <a:t>Slide 1: 15s — introduce LakbayPoints and tagline.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r>
              <a:rPr lang="en-US" dirty="0"/>
              <a:t>Target: 25 seconds.
Narration: “This problem is personal to us. During our internship in Metro Manila, we stayed near Ortigas and relied on walking, MRT and jeepneys. One night from España, commuting became so difficult that we first had to reach Cubao, then book a Grab to Ortigas because a direct ride was more expensive. What should have been a normal commute became hours of waiting, added transfers and a trip that cost around five times more than usual. That experience showed us that a route is only practical when the complete journey works.”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r>
              <a:rPr lang="en-US" dirty="0"/>
              <a:t>Target: 25 seconds.
Narration: “Our story is only one example of a larger journey-chain problem. The modes exist, but commuters need the full chain to work together. Agencies also need a practical way to understand whether the journey was completed and where access barriers disrupted it. Traditional systems can show where traffic slows; LakbayPoints tests whether alternatives can be completed, repeated and improved.”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r>
              <a:rPr lang="en-US" dirty="0"/>
              <a:t>Target: 32 seconds.
Narration: “LakbayPoints responds with one closed loop. First, it guides the complete journey. Second, it checks whether the required chain was credibly completed. Third, it rewards only eligible trips. Fourth, it lets the commuter report the exact barrier. Finally, it aggregates journey outcomes and barriers for pilot review, so the next route and campaign can improve.”
Transition to video: “Here is how LakbayPoints works through one commuter journey.”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r>
              <a:rPr lang="en-US" dirty="0"/>
              <a:t>Video slide. Embedded optimized MP4 duration: 75.8 seconds.
Presenter transition from Slide 5: “Here is how LakbayPoints works through one commuter journey.”
If PowerPoint does not autoplay the embedded video, click the video once. After the video: “What you just saw is the combination that makes LakbayPoints different.”
Route shown: MRT-3 Guadalupe → Walk → Ferry to Hulo → Walk → Mandaluyong Science High School.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421AD-6629-4CF4-B70F-CD480244B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9BEA5-6C13-C17D-CB66-4A690431A5DC}"/>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4CE33812-FF57-A7A1-D7B3-E4AFCE23B056}"/>
              </a:ext>
            </a:extLst>
          </p:cNvPr>
          <p:cNvSpPr>
            <a:spLocks noGrp="1"/>
          </p:cNvSpPr>
          <p:nvPr>
            <p:ph type="body" idx="1"/>
          </p:nvPr>
        </p:nvSpPr>
        <p:spPr/>
        <p:txBody>
          <a:bodyPr/>
          <a:lstStyle/>
          <a:p>
            <a:r>
              <a:rPr lang="en-US" dirty="0"/>
              <a:t>Target: 25 seconds.
Narration: “The pilot creates value because it turns the journey into measurable questions. For commuters: can the trip become clearer and easier to repeat? For MMDA: where do journeys stop and which access barriers recur? For sponsors and institutions: can participation be supported within a fixed campaign budget? We are not claiming guaranteed congestion reduction — we are proposing measurable pilot evidence.”</a:t>
            </a:r>
          </a:p>
        </p:txBody>
      </p:sp>
      <p:sp>
        <p:nvSpPr>
          <p:cNvPr id="4" name="Slide Number Placeholder 3">
            <a:extLst>
              <a:ext uri="{FF2B5EF4-FFF2-40B4-BE49-F238E27FC236}">
                <a16:creationId xmlns:a16="http://schemas.microsoft.com/office/drawing/2014/main" id="{092DC9CC-25A0-8D12-7951-E556EEBD9D7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56680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B6A7A-545F-3D3A-5A6A-EFAFC9110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2961F-7F2B-EC6A-17AC-D4598114A734}"/>
              </a:ext>
            </a:extLst>
          </p:cNvPr>
          <p:cNvSpPr>
            <a:spLocks noGrp="1" noRot="1" noChangeAspect="1"/>
          </p:cNvSpPr>
          <p:nvPr>
            <p:ph type="sldImg"/>
          </p:nvPr>
        </p:nvSpPr>
        <p:spPr/>
        <p:txBody>
          <a:bodyPr/>
          <a:lstStyle/>
          <a:p>
            <a:endParaRPr lang="en-PH"/>
          </a:p>
        </p:txBody>
      </p:sp>
      <p:sp>
        <p:nvSpPr>
          <p:cNvPr id="3" name="Notes Placeholder 2">
            <a:extLst>
              <a:ext uri="{FF2B5EF4-FFF2-40B4-BE49-F238E27FC236}">
                <a16:creationId xmlns:a16="http://schemas.microsoft.com/office/drawing/2014/main" id="{6667680B-AB58-7099-9E3A-839C7D617D04}"/>
              </a:ext>
            </a:extLst>
          </p:cNvPr>
          <p:cNvSpPr>
            <a:spLocks noGrp="1"/>
          </p:cNvSpPr>
          <p:nvPr>
            <p:ph type="body" idx="1"/>
          </p:nvPr>
        </p:nvSpPr>
        <p:spPr/>
        <p:txBody>
          <a:bodyPr/>
          <a:lstStyle/>
          <a:p>
            <a:r>
              <a:rPr lang="en-US" dirty="0"/>
              <a:t>Target: 25 seconds.
Narration: “The pilot creates value because it turns the journey into measurable questions. For commuters: can the trip become clearer and easier to repeat? For MMDA: where do journeys stop and which access barriers recur? For sponsors and institutions: can participation be supported within a fixed campaign budget? We are not claiming guaranteed congestion reduction — we are proposing measurable pilot evidence.”</a:t>
            </a:r>
          </a:p>
        </p:txBody>
      </p:sp>
      <p:sp>
        <p:nvSpPr>
          <p:cNvPr id="4" name="Slide Number Placeholder 3">
            <a:extLst>
              <a:ext uri="{FF2B5EF4-FFF2-40B4-BE49-F238E27FC236}">
                <a16:creationId xmlns:a16="http://schemas.microsoft.com/office/drawing/2014/main" id="{0F4D39AF-FE66-F45D-F202-225F49634CB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28698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r>
              <a:rPr lang="en-US" dirty="0"/>
              <a:t>Target: 38 seconds.
Narration: “Feasibility has three stages. First, the prototype demonstrates the workflow. Second, a pilot validates it with real commuters: route audit, threshold calibration, privacy review, usability feedback and report workload. Third, once the corridor profile is validated, it can be configured for additional corridors. We are not asking for instant citywide deployment; we are asking for one controlled pilot before scale.”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r>
              <a:rPr lang="en-US" dirty="0"/>
              <a:t>Target: 7 seconds.
Say only: “Our team combines transportation expertise, software development, multimedia communication, and technical guidance from Cagayan State University.”
Do not read every name or title.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73652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4.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19.png"/><Relationship Id="rId10" Type="http://schemas.openxmlformats.org/officeDocument/2006/relationships/image" Target="../media/image23.jpeg"/><Relationship Id="rId4" Type="http://schemas.openxmlformats.org/officeDocument/2006/relationships/image" Target="../media/image18.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FC4ED17-C22B-CD7E-EAAF-40AB38B26BFC}"/>
              </a:ext>
            </a:extLst>
          </p:cNvPr>
          <p:cNvPicPr>
            <a:picLocks noChangeAspect="1"/>
          </p:cNvPicPr>
          <p:nvPr/>
        </p:nvPicPr>
        <p:blipFill>
          <a:blip r:embed="rId3"/>
          <a:stretch>
            <a:fillRect/>
          </a:stretch>
        </p:blipFill>
        <p:spPr>
          <a:xfrm>
            <a:off x="7106247" y="2765046"/>
            <a:ext cx="6829627" cy="4344521"/>
          </a:xfrm>
          <a:prstGeom prst="rect">
            <a:avLst/>
          </a:prstGeom>
        </p:spPr>
      </p:pic>
      <p:sp>
        <p:nvSpPr>
          <p:cNvPr id="2" name="Shape 0"/>
          <p:cNvSpPr/>
          <p:nvPr/>
        </p:nvSpPr>
        <p:spPr>
          <a:xfrm>
            <a:off x="11292839" y="320040"/>
            <a:ext cx="484665" cy="0"/>
          </a:xfrm>
          <a:prstGeom prst="line">
            <a:avLst/>
          </a:prstGeom>
          <a:noFill/>
          <a:ln w="12700">
            <a:solidFill>
              <a:srgbClr val="FFB300">
                <a:alpha val="40000"/>
              </a:srgbClr>
            </a:solidFill>
            <a:prstDash val="solid"/>
          </a:ln>
        </p:spPr>
        <p:txBody>
          <a:bodyPr/>
          <a:lstStyle/>
          <a:p>
            <a:endParaRPr lang="en-PH">
              <a:latin typeface="+mj-lt"/>
            </a:endParaRPr>
          </a:p>
        </p:txBody>
      </p:sp>
      <p:sp>
        <p:nvSpPr>
          <p:cNvPr id="3" name="Shape 1"/>
          <p:cNvSpPr/>
          <p:nvPr/>
        </p:nvSpPr>
        <p:spPr>
          <a:xfrm>
            <a:off x="128016" y="6565392"/>
            <a:ext cx="436198" cy="0"/>
          </a:xfrm>
          <a:prstGeom prst="line">
            <a:avLst/>
          </a:prstGeom>
          <a:noFill/>
          <a:ln w="10160">
            <a:solidFill>
              <a:srgbClr val="0037B8">
                <a:alpha val="17000"/>
              </a:srgbClr>
            </a:solidFill>
            <a:prstDash val="solid"/>
          </a:ln>
        </p:spPr>
        <p:txBody>
          <a:bodyPr/>
          <a:lstStyle/>
          <a:p>
            <a:endParaRPr lang="en-PH">
              <a:latin typeface="+mj-lt"/>
            </a:endParaRPr>
          </a:p>
        </p:txBody>
      </p:sp>
      <p:sp>
        <p:nvSpPr>
          <p:cNvPr id="5" name="Text 2"/>
          <p:cNvSpPr/>
          <p:nvPr/>
        </p:nvSpPr>
        <p:spPr>
          <a:xfrm>
            <a:off x="437170" y="2509611"/>
            <a:ext cx="9719635" cy="639778"/>
          </a:xfrm>
          <a:prstGeom prst="rect">
            <a:avLst/>
          </a:prstGeom>
          <a:noFill/>
          <a:ln/>
        </p:spPr>
        <p:txBody>
          <a:bodyPr wrap="square" lIns="0" tIns="0" rIns="0" bIns="0" rtlCol="0" anchor="ctr"/>
          <a:lstStyle/>
          <a:p>
            <a:r>
              <a:rPr lang="en-PH" sz="3200" b="1" dirty="0">
                <a:solidFill>
                  <a:srgbClr val="0037B8"/>
                </a:solidFill>
                <a:latin typeface="+mj-lt"/>
              </a:rPr>
              <a:t>An AI-powered platform for transparent Hospital Billing and Insurance Reconciliation</a:t>
            </a:r>
            <a:endParaRPr lang="en-US" sz="7200" b="1" dirty="0">
              <a:solidFill>
                <a:srgbClr val="0037B8"/>
              </a:solidFill>
              <a:latin typeface="+mj-lt"/>
            </a:endParaRPr>
          </a:p>
        </p:txBody>
      </p:sp>
      <p:sp>
        <p:nvSpPr>
          <p:cNvPr id="6" name="Text 3"/>
          <p:cNvSpPr/>
          <p:nvPr/>
        </p:nvSpPr>
        <p:spPr>
          <a:xfrm>
            <a:off x="-1154786" y="3471751"/>
            <a:ext cx="9208635" cy="301752"/>
          </a:xfrm>
          <a:prstGeom prst="rect">
            <a:avLst/>
          </a:prstGeom>
          <a:noFill/>
          <a:ln/>
        </p:spPr>
        <p:txBody>
          <a:bodyPr wrap="square" lIns="0" tIns="0" rIns="0" bIns="0" rtlCol="0" anchor="ctr"/>
          <a:lstStyle/>
          <a:p>
            <a:pPr algn="ctr"/>
            <a:r>
              <a:rPr lang="en-PH" sz="1600" b="1" dirty="0">
                <a:solidFill>
                  <a:srgbClr val="FFC000"/>
                </a:solidFill>
                <a:latin typeface="+mj-lt"/>
              </a:rPr>
              <a:t>Reconcile the Care. Clarify the Bill. Dignify the Discharge.</a:t>
            </a:r>
            <a:endParaRPr lang="en-US" b="1" dirty="0">
              <a:solidFill>
                <a:srgbClr val="FFC000"/>
              </a:solidFill>
              <a:latin typeface="+mj-lt"/>
            </a:endParaRPr>
          </a:p>
        </p:txBody>
      </p:sp>
      <p:pic>
        <p:nvPicPr>
          <p:cNvPr id="23" name="Picture 22">
            <a:extLst>
              <a:ext uri="{FF2B5EF4-FFF2-40B4-BE49-F238E27FC236}">
                <a16:creationId xmlns:a16="http://schemas.microsoft.com/office/drawing/2014/main" id="{E7CD0823-85E0-132B-3926-FCB3F7E739B9}"/>
              </a:ext>
            </a:extLst>
          </p:cNvPr>
          <p:cNvPicPr>
            <a:picLocks noChangeAspect="1"/>
          </p:cNvPicPr>
          <p:nvPr/>
        </p:nvPicPr>
        <p:blipFill>
          <a:blip r:embed="rId4"/>
          <a:stretch>
            <a:fillRect/>
          </a:stretch>
        </p:blipFill>
        <p:spPr>
          <a:xfrm>
            <a:off x="2241550" y="865556"/>
            <a:ext cx="722002" cy="700490"/>
          </a:xfrm>
          <a:prstGeom prst="rect">
            <a:avLst/>
          </a:prstGeom>
        </p:spPr>
      </p:pic>
      <p:sp>
        <p:nvSpPr>
          <p:cNvPr id="24" name="Text 2">
            <a:extLst>
              <a:ext uri="{FF2B5EF4-FFF2-40B4-BE49-F238E27FC236}">
                <a16:creationId xmlns:a16="http://schemas.microsoft.com/office/drawing/2014/main" id="{1EA2873E-C46B-44C4-299F-B7E7394ECEC5}"/>
              </a:ext>
            </a:extLst>
          </p:cNvPr>
          <p:cNvSpPr/>
          <p:nvPr/>
        </p:nvSpPr>
        <p:spPr>
          <a:xfrm>
            <a:off x="3078726" y="1009785"/>
            <a:ext cx="2147791" cy="406400"/>
          </a:xfrm>
          <a:prstGeom prst="rect">
            <a:avLst/>
          </a:prstGeom>
          <a:noFill/>
          <a:ln/>
        </p:spPr>
        <p:txBody>
          <a:bodyPr wrap="square" lIns="0" tIns="0" rIns="0" bIns="0" rtlCol="0" anchor="ctr"/>
          <a:lstStyle/>
          <a:p>
            <a:pPr marL="0" indent="0">
              <a:buNone/>
            </a:pPr>
            <a:r>
              <a:rPr lang="en-US" sz="2400" b="1" dirty="0">
                <a:solidFill>
                  <a:srgbClr val="0037B8"/>
                </a:solidFill>
                <a:latin typeface="+mj-lt"/>
                <a:ea typeface="ADLaM Display" panose="02010000000000000000" pitchFamily="2" charset="0"/>
                <a:cs typeface="ADLaM Display" panose="02010000000000000000" pitchFamily="2" charset="0"/>
              </a:rPr>
              <a:t>Cagayan State University</a:t>
            </a:r>
            <a:endParaRPr lang="en-US" sz="2400" dirty="0">
              <a:latin typeface="+mj-lt"/>
              <a:ea typeface="ADLaM Display" panose="02010000000000000000" pitchFamily="2" charset="0"/>
              <a:cs typeface="ADLaM Display" panose="02010000000000000000" pitchFamily="2" charset="0"/>
            </a:endParaRPr>
          </a:p>
        </p:txBody>
      </p:sp>
      <p:grpSp>
        <p:nvGrpSpPr>
          <p:cNvPr id="28" name="Group 27">
            <a:extLst>
              <a:ext uri="{FF2B5EF4-FFF2-40B4-BE49-F238E27FC236}">
                <a16:creationId xmlns:a16="http://schemas.microsoft.com/office/drawing/2014/main" id="{44793089-2401-603F-6E84-436F63A2270F}"/>
              </a:ext>
            </a:extLst>
          </p:cNvPr>
          <p:cNvGrpSpPr/>
          <p:nvPr/>
        </p:nvGrpSpPr>
        <p:grpSpPr>
          <a:xfrm>
            <a:off x="437170" y="4092954"/>
            <a:ext cx="7206968" cy="727179"/>
            <a:chOff x="538432" y="5156115"/>
            <a:chExt cx="5453547" cy="292608"/>
          </a:xfrm>
        </p:grpSpPr>
        <p:grpSp>
          <p:nvGrpSpPr>
            <p:cNvPr id="16" name="Group 15">
              <a:extLst>
                <a:ext uri="{FF2B5EF4-FFF2-40B4-BE49-F238E27FC236}">
                  <a16:creationId xmlns:a16="http://schemas.microsoft.com/office/drawing/2014/main" id="{6A3CAA25-3B06-F21A-44DC-8A62A1D95EDB}"/>
                </a:ext>
              </a:extLst>
            </p:cNvPr>
            <p:cNvGrpSpPr/>
            <p:nvPr/>
          </p:nvGrpSpPr>
          <p:grpSpPr>
            <a:xfrm>
              <a:off x="538432" y="5156115"/>
              <a:ext cx="3347349" cy="292608"/>
              <a:chOff x="2714833" y="5148072"/>
              <a:chExt cx="3347349" cy="292608"/>
            </a:xfrm>
          </p:grpSpPr>
          <p:sp>
            <p:nvSpPr>
              <p:cNvPr id="9" name="Shape 6"/>
              <p:cNvSpPr/>
              <p:nvPr/>
            </p:nvSpPr>
            <p:spPr>
              <a:xfrm>
                <a:off x="2714833" y="5148072"/>
                <a:ext cx="1497825" cy="292608"/>
              </a:xfrm>
              <a:prstGeom prst="roundRect">
                <a:avLst>
                  <a:gd name="adj" fmla="val 18750"/>
                </a:avLst>
              </a:prstGeom>
              <a:solidFill>
                <a:srgbClr val="F2F6FF"/>
              </a:solidFill>
              <a:ln w="11430">
                <a:solidFill>
                  <a:srgbClr val="0037B8"/>
                </a:solidFill>
                <a:prstDash val="solid"/>
              </a:ln>
            </p:spPr>
            <p:txBody>
              <a:bodyPr/>
              <a:lstStyle/>
              <a:p>
                <a:endParaRPr lang="en-PH">
                  <a:latin typeface="+mj-lt"/>
                </a:endParaRPr>
              </a:p>
            </p:txBody>
          </p:sp>
          <p:sp>
            <p:nvSpPr>
              <p:cNvPr id="11" name="Shape 8"/>
              <p:cNvSpPr/>
              <p:nvPr/>
            </p:nvSpPr>
            <p:spPr>
              <a:xfrm>
                <a:off x="4381565" y="5148072"/>
                <a:ext cx="1680617" cy="292608"/>
              </a:xfrm>
              <a:prstGeom prst="roundRect">
                <a:avLst>
                  <a:gd name="adj" fmla="val 18750"/>
                </a:avLst>
              </a:prstGeom>
              <a:solidFill>
                <a:srgbClr val="FFF6DA"/>
              </a:solidFill>
              <a:ln w="11430">
                <a:solidFill>
                  <a:srgbClr val="FFB300"/>
                </a:solidFill>
                <a:prstDash val="solid"/>
              </a:ln>
            </p:spPr>
            <p:txBody>
              <a:bodyPr/>
              <a:lstStyle/>
              <a:p>
                <a:endParaRPr lang="en-PH">
                  <a:latin typeface="+mj-lt"/>
                </a:endParaRPr>
              </a:p>
            </p:txBody>
          </p:sp>
          <p:sp>
            <p:nvSpPr>
              <p:cNvPr id="14" name="Text 11"/>
              <p:cNvSpPr/>
              <p:nvPr/>
            </p:nvSpPr>
            <p:spPr>
              <a:xfrm>
                <a:off x="2755085" y="5221045"/>
                <a:ext cx="1417320" cy="146304"/>
              </a:xfrm>
              <a:prstGeom prst="rect">
                <a:avLst/>
              </a:prstGeom>
              <a:noFill/>
              <a:ln/>
            </p:spPr>
            <p:txBody>
              <a:bodyPr wrap="square" lIns="0" tIns="0" rIns="0" bIns="0" rtlCol="0" anchor="ctr"/>
              <a:lstStyle/>
              <a:p>
                <a:pPr marL="0" indent="0" algn="ctr">
                  <a:buNone/>
                </a:pPr>
                <a:r>
                  <a:rPr lang="en-US" sz="1200" b="1" dirty="0">
                    <a:solidFill>
                      <a:srgbClr val="0037B8"/>
                    </a:solidFill>
                    <a:latin typeface="+mj-lt"/>
                  </a:rPr>
                  <a:t>Good Governance</a:t>
                </a:r>
                <a:endParaRPr lang="en-US" sz="1200" dirty="0">
                  <a:latin typeface="+mj-lt"/>
                </a:endParaRPr>
              </a:p>
            </p:txBody>
          </p:sp>
        </p:grpSp>
        <p:sp>
          <p:nvSpPr>
            <p:cNvPr id="18" name="Shape 6">
              <a:extLst>
                <a:ext uri="{FF2B5EF4-FFF2-40B4-BE49-F238E27FC236}">
                  <a16:creationId xmlns:a16="http://schemas.microsoft.com/office/drawing/2014/main" id="{4C0EC9CD-2266-6061-797F-CBFE8516AA36}"/>
                </a:ext>
              </a:extLst>
            </p:cNvPr>
            <p:cNvSpPr/>
            <p:nvPr/>
          </p:nvSpPr>
          <p:spPr>
            <a:xfrm>
              <a:off x="3991226" y="5156115"/>
              <a:ext cx="2000753" cy="292608"/>
            </a:xfrm>
            <a:prstGeom prst="roundRect">
              <a:avLst>
                <a:gd name="adj" fmla="val 18750"/>
              </a:avLst>
            </a:prstGeom>
            <a:solidFill>
              <a:srgbClr val="F2F6FF"/>
            </a:solidFill>
            <a:ln w="11430">
              <a:solidFill>
                <a:srgbClr val="0037B8"/>
              </a:solidFill>
              <a:prstDash val="solid"/>
            </a:ln>
          </p:spPr>
          <p:txBody>
            <a:bodyPr/>
            <a:lstStyle/>
            <a:p>
              <a:endParaRPr lang="en-PH">
                <a:latin typeface="+mj-lt"/>
              </a:endParaRPr>
            </a:p>
          </p:txBody>
        </p:sp>
        <p:sp>
          <p:nvSpPr>
            <p:cNvPr id="20" name="Text 9">
              <a:extLst>
                <a:ext uri="{FF2B5EF4-FFF2-40B4-BE49-F238E27FC236}">
                  <a16:creationId xmlns:a16="http://schemas.microsoft.com/office/drawing/2014/main" id="{925E3FF9-21C4-76BF-3144-F428F9418F90}"/>
                </a:ext>
              </a:extLst>
            </p:cNvPr>
            <p:cNvSpPr/>
            <p:nvPr/>
          </p:nvSpPr>
          <p:spPr>
            <a:xfrm>
              <a:off x="2121052" y="5229914"/>
              <a:ext cx="1783080" cy="146304"/>
            </a:xfrm>
            <a:prstGeom prst="rect">
              <a:avLst/>
            </a:prstGeom>
            <a:noFill/>
            <a:ln/>
          </p:spPr>
          <p:txBody>
            <a:bodyPr wrap="square" lIns="0" tIns="0" rIns="0" bIns="0" rtlCol="0" anchor="ctr"/>
            <a:lstStyle/>
            <a:p>
              <a:pPr marL="0" indent="0" algn="ctr">
                <a:buNone/>
              </a:pPr>
              <a:r>
                <a:rPr lang="en-US" sz="1200" b="1" dirty="0">
                  <a:solidFill>
                    <a:srgbClr val="FFB300"/>
                  </a:solidFill>
                  <a:latin typeface="+mj-lt"/>
                </a:rPr>
                <a:t>Transparent Billing</a:t>
              </a:r>
              <a:endParaRPr lang="en-US" sz="1200" dirty="0">
                <a:latin typeface="+mj-lt"/>
              </a:endParaRPr>
            </a:p>
          </p:txBody>
        </p:sp>
        <p:sp>
          <p:nvSpPr>
            <p:cNvPr id="25" name="Text 9">
              <a:extLst>
                <a:ext uri="{FF2B5EF4-FFF2-40B4-BE49-F238E27FC236}">
                  <a16:creationId xmlns:a16="http://schemas.microsoft.com/office/drawing/2014/main" id="{F3FCB62D-02C6-EFA5-1266-210C016B18B1}"/>
                </a:ext>
              </a:extLst>
            </p:cNvPr>
            <p:cNvSpPr/>
            <p:nvPr/>
          </p:nvSpPr>
          <p:spPr>
            <a:xfrm>
              <a:off x="4091767" y="5229088"/>
              <a:ext cx="1783080" cy="146304"/>
            </a:xfrm>
            <a:prstGeom prst="rect">
              <a:avLst/>
            </a:prstGeom>
            <a:noFill/>
            <a:ln/>
          </p:spPr>
          <p:txBody>
            <a:bodyPr wrap="square" lIns="0" tIns="0" rIns="0" bIns="0" rtlCol="0" anchor="ctr"/>
            <a:lstStyle/>
            <a:p>
              <a:pPr marL="0" indent="0" algn="ctr">
                <a:buNone/>
              </a:pPr>
              <a:r>
                <a:rPr lang="en-US" sz="1200" b="1" dirty="0">
                  <a:solidFill>
                    <a:srgbClr val="0037B8"/>
                  </a:solidFill>
                  <a:latin typeface="+mj-lt"/>
                </a:rPr>
                <a:t>Tripartite Reconciliation</a:t>
              </a:r>
              <a:endParaRPr lang="en-US" sz="1200" dirty="0">
                <a:solidFill>
                  <a:srgbClr val="0037B8"/>
                </a:solidFill>
                <a:latin typeface="+mj-lt"/>
              </a:endParaRPr>
            </a:p>
          </p:txBody>
        </p:sp>
      </p:grpSp>
      <p:pic>
        <p:nvPicPr>
          <p:cNvPr id="27" name="Picture 26" descr="PGC|Job Portal">
            <a:extLst>
              <a:ext uri="{FF2B5EF4-FFF2-40B4-BE49-F238E27FC236}">
                <a16:creationId xmlns:a16="http://schemas.microsoft.com/office/drawing/2014/main" id="{8282F000-526B-4564-2D66-30836B8149C9}"/>
              </a:ext>
            </a:extLst>
          </p:cNvPr>
          <p:cNvPicPr>
            <a:picLocks noChangeAspect="1"/>
          </p:cNvPicPr>
          <p:nvPr/>
        </p:nvPicPr>
        <p:blipFill>
          <a:blip r:embed="rId5"/>
          <a:stretch>
            <a:fillRect/>
          </a:stretch>
        </p:blipFill>
        <p:spPr>
          <a:xfrm>
            <a:off x="1318228" y="829368"/>
            <a:ext cx="813322" cy="76723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467612" y="201168"/>
            <a:ext cx="6035040" cy="292608"/>
          </a:xfrm>
          <a:prstGeom prst="rect">
            <a:avLst/>
          </a:prstGeom>
          <a:noFill/>
        </p:spPr>
        <p:txBody>
          <a:bodyPr wrap="square" lIns="0" tIns="0" rIns="0" bIns="0" rtlCol="0" anchor="ctr">
            <a:normAutofit fontScale="90000" lnSpcReduction="10000"/>
          </a:bodyPr>
          <a:lstStyle/>
          <a:p>
            <a:pPr marL="0" indent="0">
              <a:buNone/>
            </a:pPr>
            <a:r>
              <a:rPr lang="en-US" sz="2250" b="1" dirty="0">
                <a:solidFill>
                  <a:srgbClr val="082B7F"/>
                </a:solidFill>
                <a:latin typeface="+mj-lt"/>
                <a:ea typeface="Arial" panose="020B0604020202020204" pitchFamily="34" charset="-122"/>
                <a:cs typeface="Arial" panose="020B0604020202020204" pitchFamily="34" charset="-120"/>
              </a:rPr>
              <a:t>Our Lived Healthcare Patient Experience</a:t>
            </a:r>
            <a:endParaRPr lang="en-US" sz="2250" dirty="0">
              <a:latin typeface="+mj-lt"/>
            </a:endParaRPr>
          </a:p>
        </p:txBody>
      </p:sp>
      <p:sp>
        <p:nvSpPr>
          <p:cNvPr id="5" name="Shape 2"/>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latin typeface="+mj-lt"/>
            </a:endParaRPr>
          </a:p>
        </p:txBody>
      </p:sp>
      <p:sp>
        <p:nvSpPr>
          <p:cNvPr id="6" name="Shape 3"/>
          <p:cNvSpPr/>
          <p:nvPr/>
        </p:nvSpPr>
        <p:spPr>
          <a:xfrm>
            <a:off x="7159752" y="630936"/>
            <a:ext cx="685800" cy="22860"/>
          </a:xfrm>
          <a:prstGeom prst="rect">
            <a:avLst/>
          </a:prstGeom>
          <a:solidFill>
            <a:srgbClr val="F7B500"/>
          </a:solidFill>
          <a:ln w="12700">
            <a:solidFill>
              <a:srgbClr val="F7B500"/>
            </a:solidFill>
            <a:prstDash val="solid"/>
          </a:ln>
        </p:spPr>
        <p:txBody>
          <a:bodyPr/>
          <a:lstStyle/>
          <a:p>
            <a:endParaRPr lang="en-PH">
              <a:latin typeface="+mj-lt"/>
            </a:endParaRPr>
          </a:p>
        </p:txBody>
      </p:sp>
      <p:sp>
        <p:nvSpPr>
          <p:cNvPr id="7" name="Text 4"/>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latin typeface="+mj-lt"/>
                <a:ea typeface="Arial" panose="020B0604020202020204" pitchFamily="34" charset="-122"/>
                <a:cs typeface="Arial" panose="020B0604020202020204" pitchFamily="34" charset="-120"/>
              </a:rPr>
              <a:t>3/10</a:t>
            </a:r>
            <a:endParaRPr lang="en-US" sz="950" dirty="0">
              <a:latin typeface="+mj-lt"/>
            </a:endParaRPr>
          </a:p>
        </p:txBody>
      </p:sp>
      <p:sp>
        <p:nvSpPr>
          <p:cNvPr id="8" name="Text 5"/>
          <p:cNvSpPr/>
          <p:nvPr/>
        </p:nvSpPr>
        <p:spPr>
          <a:xfrm>
            <a:off x="210312" y="6601968"/>
            <a:ext cx="5120640" cy="118872"/>
          </a:xfrm>
          <a:prstGeom prst="rect">
            <a:avLst/>
          </a:prstGeom>
          <a:noFill/>
        </p:spPr>
        <p:txBody>
          <a:bodyPr wrap="square" lIns="0" tIns="0" rIns="0" bIns="0" rtlCol="0" anchor="ctr">
            <a:normAutofit/>
          </a:bodyPr>
          <a:lstStyle/>
          <a:p>
            <a:pPr marL="0" indent="0">
              <a:buNone/>
            </a:pPr>
            <a:r>
              <a:rPr lang="en-US" sz="560" dirty="0">
                <a:solidFill>
                  <a:srgbClr val="5E6F8A"/>
                </a:solidFill>
                <a:latin typeface="+mj-lt"/>
                <a:ea typeface="Arial" panose="020B0604020202020204" pitchFamily="34" charset="-122"/>
                <a:cs typeface="Arial" panose="020B0604020202020204" pitchFamily="34" charset="-120"/>
              </a:rPr>
              <a:t>LakbayPoints • MMITS Bagong Gawi, Bagong Galaw Challenge</a:t>
            </a:r>
            <a:endParaRPr lang="en-US" sz="560" dirty="0">
              <a:latin typeface="+mj-lt"/>
            </a:endParaRPr>
          </a:p>
        </p:txBody>
      </p:sp>
      <p:sp>
        <p:nvSpPr>
          <p:cNvPr id="9" name="Text 6"/>
          <p:cNvSpPr/>
          <p:nvPr/>
        </p:nvSpPr>
        <p:spPr>
          <a:xfrm>
            <a:off x="11484864" y="6537960"/>
            <a:ext cx="228600" cy="109728"/>
          </a:xfrm>
          <a:prstGeom prst="rect">
            <a:avLst/>
          </a:prstGeom>
          <a:noFill/>
        </p:spPr>
        <p:txBody>
          <a:bodyPr wrap="square" lIns="0" tIns="0" rIns="0" bIns="0" rtlCol="0" anchor="ctr">
            <a:normAutofit/>
          </a:bodyPr>
          <a:lstStyle/>
          <a:p>
            <a:pPr marL="0" indent="0" algn="r">
              <a:buNone/>
            </a:pPr>
            <a:r>
              <a:rPr lang="en-US" sz="550" dirty="0">
                <a:solidFill>
                  <a:srgbClr val="8492A6"/>
                </a:solidFill>
                <a:latin typeface="+mj-lt"/>
                <a:ea typeface="Arial" panose="020B0604020202020204" pitchFamily="34" charset="-122"/>
                <a:cs typeface="Arial" panose="020B0604020202020204" pitchFamily="34" charset="-120"/>
              </a:rPr>
              <a:t>3</a:t>
            </a:r>
            <a:endParaRPr lang="en-US" sz="550" dirty="0">
              <a:latin typeface="+mj-lt"/>
            </a:endParaRPr>
          </a:p>
        </p:txBody>
      </p:sp>
      <p:sp>
        <p:nvSpPr>
          <p:cNvPr id="30" name="Text 26"/>
          <p:cNvSpPr/>
          <p:nvPr/>
        </p:nvSpPr>
        <p:spPr>
          <a:xfrm>
            <a:off x="5696712" y="6235192"/>
            <a:ext cx="5376672" cy="118872"/>
          </a:xfrm>
          <a:prstGeom prst="rect">
            <a:avLst/>
          </a:prstGeom>
          <a:noFill/>
        </p:spPr>
        <p:txBody>
          <a:bodyPr wrap="square" lIns="0" tIns="0" rIns="0" bIns="0" rtlCol="0" anchor="ctr">
            <a:normAutofit/>
          </a:bodyPr>
          <a:lstStyle/>
          <a:p>
            <a:pPr marL="0" indent="0" algn="ctr">
              <a:buNone/>
            </a:pPr>
            <a:r>
              <a:rPr lang="en-US" sz="650" dirty="0">
                <a:solidFill>
                  <a:srgbClr val="5E6F8A"/>
                </a:solidFill>
                <a:latin typeface="+mj-lt"/>
                <a:ea typeface="Arial" panose="020B0604020202020204" pitchFamily="34" charset="-122"/>
                <a:cs typeface="Arial" panose="020B0604020202020204" pitchFamily="34" charset="-120"/>
              </a:rPr>
              <a:t>Experience-based story; cost and time are team recollection, not official averages.</a:t>
            </a:r>
            <a:endParaRPr lang="en-US" sz="650" dirty="0">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572768" y="36576"/>
            <a:ext cx="6035040" cy="292608"/>
          </a:xfrm>
          <a:prstGeom prst="rect">
            <a:avLst/>
          </a:prstGeom>
          <a:noFill/>
        </p:spPr>
        <p:txBody>
          <a:bodyPr wrap="square" lIns="0" tIns="0" rIns="0" bIns="0" rtlCol="0" anchor="ctr">
            <a:normAutofit fontScale="92500" lnSpcReduction="10000"/>
          </a:bodyPr>
          <a:lstStyle/>
          <a:p>
            <a:pPr marL="0" indent="0">
              <a:buNone/>
            </a:pPr>
            <a:r>
              <a:rPr lang="en-US" sz="2250" b="1" dirty="0">
                <a:solidFill>
                  <a:srgbClr val="082B7F"/>
                </a:solidFill>
                <a:ea typeface="Arial" panose="020B0604020202020204" pitchFamily="34" charset="-122"/>
                <a:cs typeface="Arial" panose="020B0604020202020204" pitchFamily="34" charset="-120"/>
              </a:rPr>
              <a:t>Problem Statement</a:t>
            </a:r>
            <a:endParaRPr lang="en-US" sz="2250" dirty="0"/>
          </a:p>
        </p:txBody>
      </p:sp>
      <p:sp>
        <p:nvSpPr>
          <p:cNvPr id="4" name="Text 1"/>
          <p:cNvSpPr/>
          <p:nvPr/>
        </p:nvSpPr>
        <p:spPr>
          <a:xfrm>
            <a:off x="1572768" y="367308"/>
            <a:ext cx="7269480" cy="182880"/>
          </a:xfrm>
          <a:prstGeom prst="rect">
            <a:avLst/>
          </a:prstGeom>
          <a:noFill/>
        </p:spPr>
        <p:txBody>
          <a:bodyPr wrap="square" lIns="0" tIns="0" rIns="0" bIns="0" rtlCol="0" anchor="ctr">
            <a:normAutofit/>
          </a:bodyPr>
          <a:lstStyle/>
          <a:p>
            <a:pPr marL="0" indent="0">
              <a:buNone/>
            </a:pPr>
            <a:r>
              <a:rPr lang="en-US" sz="850" dirty="0">
                <a:solidFill>
                  <a:srgbClr val="5E6F8A"/>
                </a:solidFill>
                <a:ea typeface="Arial" panose="020B0604020202020204" pitchFamily="34" charset="-122"/>
                <a:cs typeface="Arial" panose="020B0604020202020204" pitchFamily="34" charset="-120"/>
              </a:rPr>
              <a:t>Our experience revealed a larger journey-chain problem.</a:t>
            </a:r>
            <a:endParaRPr lang="en-US" sz="850" dirty="0"/>
          </a:p>
        </p:txBody>
      </p:sp>
      <p:sp>
        <p:nvSpPr>
          <p:cNvPr id="5" name="Shape 2"/>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p>
        </p:txBody>
      </p:sp>
      <p:sp>
        <p:nvSpPr>
          <p:cNvPr id="6" name="Shape 3"/>
          <p:cNvSpPr/>
          <p:nvPr/>
        </p:nvSpPr>
        <p:spPr>
          <a:xfrm>
            <a:off x="7159752" y="630936"/>
            <a:ext cx="685800" cy="22860"/>
          </a:xfrm>
          <a:prstGeom prst="rect">
            <a:avLst/>
          </a:prstGeom>
          <a:solidFill>
            <a:srgbClr val="F7B500"/>
          </a:solidFill>
          <a:ln w="12700">
            <a:solidFill>
              <a:srgbClr val="F7B500"/>
            </a:solidFill>
            <a:prstDash val="solid"/>
          </a:ln>
        </p:spPr>
        <p:txBody>
          <a:bodyPr/>
          <a:lstStyle/>
          <a:p>
            <a:endParaRPr lang="en-PH"/>
          </a:p>
        </p:txBody>
      </p:sp>
      <p:sp>
        <p:nvSpPr>
          <p:cNvPr id="7" name="Text 4"/>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ea typeface="Arial" panose="020B0604020202020204" pitchFamily="34" charset="-122"/>
                <a:cs typeface="Arial" panose="020B0604020202020204" pitchFamily="34" charset="-120"/>
              </a:rPr>
              <a:t>4/10</a:t>
            </a:r>
            <a:endParaRPr lang="en-US" sz="950" dirty="0"/>
          </a:p>
        </p:txBody>
      </p:sp>
      <p:sp>
        <p:nvSpPr>
          <p:cNvPr id="8" name="Text 5"/>
          <p:cNvSpPr/>
          <p:nvPr/>
        </p:nvSpPr>
        <p:spPr>
          <a:xfrm>
            <a:off x="210312" y="6601968"/>
            <a:ext cx="5120640" cy="118872"/>
          </a:xfrm>
          <a:prstGeom prst="rect">
            <a:avLst/>
          </a:prstGeom>
          <a:noFill/>
        </p:spPr>
        <p:txBody>
          <a:bodyPr wrap="square" lIns="0" tIns="0" rIns="0" bIns="0" rtlCol="0" anchor="ctr">
            <a:normAutofit/>
          </a:bodyPr>
          <a:lstStyle/>
          <a:p>
            <a:pPr marL="0" indent="0">
              <a:buNone/>
            </a:pPr>
            <a:r>
              <a:rPr lang="en-US" sz="560" dirty="0">
                <a:solidFill>
                  <a:srgbClr val="5E6F8A"/>
                </a:solidFill>
                <a:ea typeface="Arial" panose="020B0604020202020204" pitchFamily="34" charset="-122"/>
                <a:cs typeface="Arial" panose="020B0604020202020204" pitchFamily="34" charset="-120"/>
              </a:rPr>
              <a:t>LakbayPoints • MMITS Bagong Gawi, Bagong Galaw Challenge</a:t>
            </a:r>
            <a:endParaRPr lang="en-US" sz="560" dirty="0"/>
          </a:p>
        </p:txBody>
      </p:sp>
      <p:sp>
        <p:nvSpPr>
          <p:cNvPr id="10" name="Shape 7"/>
          <p:cNvSpPr/>
          <p:nvPr/>
        </p:nvSpPr>
        <p:spPr>
          <a:xfrm>
            <a:off x="420624" y="987551"/>
            <a:ext cx="5675376" cy="5326749"/>
          </a:xfrm>
          <a:prstGeom prst="roundRect">
            <a:avLst>
              <a:gd name="adj" fmla="val 1975"/>
            </a:avLst>
          </a:prstGeom>
          <a:solidFill>
            <a:srgbClr val="EEF4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11" name="Text 8"/>
          <p:cNvSpPr/>
          <p:nvPr/>
        </p:nvSpPr>
        <p:spPr>
          <a:xfrm>
            <a:off x="617220" y="1086477"/>
            <a:ext cx="5291970" cy="749808"/>
          </a:xfrm>
          <a:prstGeom prst="rect">
            <a:avLst/>
          </a:prstGeom>
          <a:noFill/>
        </p:spPr>
        <p:txBody>
          <a:bodyPr wrap="square" lIns="0" tIns="0" rIns="0" bIns="0" rtlCol="0" anchor="ctr">
            <a:normAutofit/>
          </a:bodyPr>
          <a:lstStyle/>
          <a:p>
            <a:r>
              <a:rPr lang="en-PH" sz="1600" b="1" dirty="0"/>
              <a:t>The benefits exist.</a:t>
            </a:r>
            <a:br>
              <a:rPr lang="en-PH" sz="1600" dirty="0"/>
            </a:br>
            <a:r>
              <a:rPr lang="en-PH" sz="1600" b="1" dirty="0"/>
              <a:t>The complete bill is still difficult to decipher and trust.</a:t>
            </a:r>
            <a:endParaRPr lang="en-US" sz="1600" dirty="0"/>
          </a:p>
        </p:txBody>
      </p:sp>
      <p:sp>
        <p:nvSpPr>
          <p:cNvPr id="12" name="Text 9"/>
          <p:cNvSpPr/>
          <p:nvPr/>
        </p:nvSpPr>
        <p:spPr>
          <a:xfrm>
            <a:off x="616336" y="1588930"/>
            <a:ext cx="5227591" cy="1133856"/>
          </a:xfrm>
          <a:prstGeom prst="rect">
            <a:avLst/>
          </a:prstGeom>
          <a:noFill/>
        </p:spPr>
        <p:txBody>
          <a:bodyPr wrap="square" lIns="0" tIns="0" rIns="0" bIns="0" rtlCol="0" anchor="ctr">
            <a:normAutofit/>
          </a:bodyPr>
          <a:lstStyle/>
          <a:p>
            <a:pPr algn="just"/>
            <a:r>
              <a:rPr lang="en-PH" sz="1200" dirty="0"/>
              <a:t>A patient’s discharge requires hospital charges, Senior/PWD discounts, PhilHealth case rates, and private HMO approvals to reconcile as one seamless ledger. One missing slip or clerical mismatch traps families in hospital rooms for hours.</a:t>
            </a:r>
            <a:endParaRPr lang="en-US" sz="700" dirty="0"/>
          </a:p>
        </p:txBody>
      </p:sp>
      <p:grpSp>
        <p:nvGrpSpPr>
          <p:cNvPr id="14" name="Group 13">
            <a:extLst>
              <a:ext uri="{FF2B5EF4-FFF2-40B4-BE49-F238E27FC236}">
                <a16:creationId xmlns:a16="http://schemas.microsoft.com/office/drawing/2014/main" id="{4FE5F923-5BBD-01E0-F81F-1A7FB2FB241A}"/>
              </a:ext>
            </a:extLst>
          </p:cNvPr>
          <p:cNvGrpSpPr/>
          <p:nvPr/>
        </p:nvGrpSpPr>
        <p:grpSpPr>
          <a:xfrm>
            <a:off x="613688" y="2671798"/>
            <a:ext cx="5226707" cy="1566975"/>
            <a:chOff x="644958" y="2795093"/>
            <a:chExt cx="5226707" cy="1566975"/>
          </a:xfrm>
        </p:grpSpPr>
        <p:sp>
          <p:nvSpPr>
            <p:cNvPr id="34" name="Shape 10">
              <a:extLst>
                <a:ext uri="{FF2B5EF4-FFF2-40B4-BE49-F238E27FC236}">
                  <a16:creationId xmlns:a16="http://schemas.microsoft.com/office/drawing/2014/main" id="{BB22AF65-8FFF-66C7-288A-615C498DBA34}"/>
                </a:ext>
              </a:extLst>
            </p:cNvPr>
            <p:cNvSpPr/>
            <p:nvPr/>
          </p:nvSpPr>
          <p:spPr>
            <a:xfrm>
              <a:off x="644958" y="2795093"/>
              <a:ext cx="5226707" cy="1555014"/>
            </a:xfrm>
            <a:prstGeom prst="roundRect">
              <a:avLst>
                <a:gd name="adj" fmla="val 12121"/>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dirty="0"/>
            </a:p>
          </p:txBody>
        </p:sp>
        <p:sp>
          <p:nvSpPr>
            <p:cNvPr id="15" name="Text 12"/>
            <p:cNvSpPr/>
            <p:nvPr/>
          </p:nvSpPr>
          <p:spPr>
            <a:xfrm>
              <a:off x="1102390" y="2841917"/>
              <a:ext cx="1882909" cy="884811"/>
            </a:xfrm>
            <a:prstGeom prst="rect">
              <a:avLst/>
            </a:prstGeom>
            <a:noFill/>
          </p:spPr>
          <p:txBody>
            <a:bodyPr wrap="square" lIns="0" tIns="0" rIns="0" bIns="0" rtlCol="0" anchor="ctr">
              <a:normAutofit/>
            </a:bodyPr>
            <a:lstStyle/>
            <a:p>
              <a:pPr algn="ctr"/>
              <a:r>
                <a:rPr lang="en-PH" sz="2800" b="1" dirty="0"/>
                <a:t>₱615B/yr</a:t>
              </a:r>
              <a:endParaRPr lang="en-US" sz="3600" dirty="0"/>
            </a:p>
          </p:txBody>
        </p:sp>
        <p:sp>
          <p:nvSpPr>
            <p:cNvPr id="16" name="Text 13"/>
            <p:cNvSpPr/>
            <p:nvPr/>
          </p:nvSpPr>
          <p:spPr>
            <a:xfrm>
              <a:off x="3367824" y="2795093"/>
              <a:ext cx="2253538" cy="973055"/>
            </a:xfrm>
            <a:prstGeom prst="rect">
              <a:avLst/>
            </a:prstGeom>
            <a:noFill/>
          </p:spPr>
          <p:txBody>
            <a:bodyPr wrap="square" lIns="0" tIns="0" rIns="0" bIns="0" rtlCol="0" anchor="ctr">
              <a:normAutofit/>
            </a:bodyPr>
            <a:lstStyle/>
            <a:p>
              <a:r>
                <a:rPr lang="en-PH" sz="1400" b="1" dirty="0"/>
                <a:t>Household Out-of-Pocket (OOP) healthcare expenditure (PSA, 2024)</a:t>
              </a:r>
              <a:endParaRPr lang="en-US" sz="800" b="1" dirty="0"/>
            </a:p>
          </p:txBody>
        </p:sp>
        <p:sp>
          <p:nvSpPr>
            <p:cNvPr id="17" name="Text 14"/>
            <p:cNvSpPr/>
            <p:nvPr/>
          </p:nvSpPr>
          <p:spPr>
            <a:xfrm>
              <a:off x="753729" y="3662357"/>
              <a:ext cx="5009162" cy="530375"/>
            </a:xfrm>
            <a:prstGeom prst="rect">
              <a:avLst/>
            </a:prstGeom>
            <a:noFill/>
          </p:spPr>
          <p:txBody>
            <a:bodyPr wrap="square" lIns="0" tIns="0" rIns="0" bIns="0" rtlCol="0" anchor="ctr">
              <a:noAutofit/>
            </a:bodyPr>
            <a:lstStyle/>
            <a:p>
              <a:pPr algn="ctr"/>
              <a:r>
                <a:rPr lang="en-PH" sz="1200" b="1" i="0" dirty="0">
                  <a:solidFill>
                    <a:srgbClr val="FFB300"/>
                  </a:solidFill>
                  <a:effectLst/>
                </a:rPr>
                <a:t>42.7% of all national health spending is shouldered directly by Filipino families.</a:t>
              </a:r>
              <a:endParaRPr lang="en-US" sz="1200" dirty="0">
                <a:solidFill>
                  <a:srgbClr val="FFB300"/>
                </a:solidFill>
              </a:endParaRPr>
            </a:p>
          </p:txBody>
        </p:sp>
        <p:sp>
          <p:nvSpPr>
            <p:cNvPr id="18" name="Text 15"/>
            <p:cNvSpPr/>
            <p:nvPr/>
          </p:nvSpPr>
          <p:spPr>
            <a:xfrm>
              <a:off x="1272753" y="4106036"/>
              <a:ext cx="3971115" cy="256032"/>
            </a:xfrm>
            <a:prstGeom prst="rect">
              <a:avLst/>
            </a:prstGeom>
            <a:noFill/>
          </p:spPr>
          <p:txBody>
            <a:bodyPr wrap="square" lIns="0" tIns="0" rIns="0" bIns="0" rtlCol="0" anchor="ctr">
              <a:normAutofit/>
            </a:bodyPr>
            <a:lstStyle/>
            <a:p>
              <a:pPr algn="ctr"/>
              <a:r>
                <a:rPr lang="en-US" sz="300" dirty="0">
                  <a:solidFill>
                    <a:schemeClr val="tx1">
                      <a:lumMod val="50000"/>
                      <a:lumOff val="50000"/>
                    </a:schemeClr>
                  </a:solidFill>
                  <a:ea typeface="Arial" panose="020B0604020202020204" pitchFamily="34" charset="-122"/>
                  <a:cs typeface="Arial" panose="020B0604020202020204" pitchFamily="34" charset="-120"/>
                </a:rPr>
                <a:t> </a:t>
              </a:r>
              <a:r>
                <a:rPr lang="en-PH" sz="800" i="1" dirty="0">
                  <a:solidFill>
                    <a:schemeClr val="tx1">
                      <a:lumMod val="50000"/>
                      <a:lumOff val="50000"/>
                    </a:schemeClr>
                  </a:solidFill>
                </a:rPr>
                <a:t>Philippine Statistics Authority (PSA), 2024 Philippine National Health Accounts.</a:t>
              </a:r>
              <a:r>
                <a:rPr lang="en-US" sz="300" dirty="0">
                  <a:solidFill>
                    <a:schemeClr val="tx1">
                      <a:lumMod val="50000"/>
                      <a:lumOff val="50000"/>
                    </a:schemeClr>
                  </a:solidFill>
                  <a:ea typeface="Arial" panose="020B0604020202020204" pitchFamily="34" charset="-122"/>
                  <a:cs typeface="Arial" panose="020B0604020202020204" pitchFamily="34" charset="-120"/>
                </a:rPr>
                <a:t>.</a:t>
              </a:r>
              <a:endParaRPr lang="en-US" sz="300" dirty="0">
                <a:solidFill>
                  <a:schemeClr val="tx1">
                    <a:lumMod val="50000"/>
                    <a:lumOff val="50000"/>
                  </a:schemeClr>
                </a:solidFill>
              </a:endParaRPr>
            </a:p>
          </p:txBody>
        </p:sp>
      </p:grpSp>
      <p:sp>
        <p:nvSpPr>
          <p:cNvPr id="35" name="Shape 10">
            <a:extLst>
              <a:ext uri="{FF2B5EF4-FFF2-40B4-BE49-F238E27FC236}">
                <a16:creationId xmlns:a16="http://schemas.microsoft.com/office/drawing/2014/main" id="{BA6EDD95-FBEC-74B3-3946-51A17AAFE1F8}"/>
              </a:ext>
            </a:extLst>
          </p:cNvPr>
          <p:cNvSpPr/>
          <p:nvPr/>
        </p:nvSpPr>
        <p:spPr>
          <a:xfrm>
            <a:off x="592837" y="4461129"/>
            <a:ext cx="5226707" cy="1594035"/>
          </a:xfrm>
          <a:prstGeom prst="roundRect">
            <a:avLst>
              <a:gd name="adj" fmla="val 12121"/>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dirty="0"/>
          </a:p>
        </p:txBody>
      </p:sp>
      <p:sp>
        <p:nvSpPr>
          <p:cNvPr id="41" name="Text 13">
            <a:extLst>
              <a:ext uri="{FF2B5EF4-FFF2-40B4-BE49-F238E27FC236}">
                <a16:creationId xmlns:a16="http://schemas.microsoft.com/office/drawing/2014/main" id="{2C4B26AB-3A5B-E53A-68F1-A0A2A7A9CB27}"/>
              </a:ext>
            </a:extLst>
          </p:cNvPr>
          <p:cNvSpPr/>
          <p:nvPr/>
        </p:nvSpPr>
        <p:spPr>
          <a:xfrm>
            <a:off x="1071120" y="4710495"/>
            <a:ext cx="1885422" cy="584786"/>
          </a:xfrm>
          <a:prstGeom prst="rect">
            <a:avLst/>
          </a:prstGeom>
          <a:noFill/>
        </p:spPr>
        <p:txBody>
          <a:bodyPr wrap="square" lIns="0" tIns="0" rIns="0" bIns="0" rtlCol="0" anchor="ctr">
            <a:normAutofit/>
          </a:bodyPr>
          <a:lstStyle/>
          <a:p>
            <a:pPr lvl="0" algn="ctr"/>
            <a:r>
              <a:rPr lang="en-PH" sz="2400" b="1" dirty="0">
                <a:solidFill>
                  <a:schemeClr val="accent5">
                    <a:lumMod val="50000"/>
                  </a:schemeClr>
                </a:solidFill>
              </a:rPr>
              <a:t>15%–20%</a:t>
            </a:r>
            <a:endParaRPr lang="en-PH" sz="1200" dirty="0">
              <a:solidFill>
                <a:schemeClr val="accent5">
                  <a:lumMod val="50000"/>
                </a:schemeClr>
              </a:solidFill>
            </a:endParaRPr>
          </a:p>
        </p:txBody>
      </p:sp>
      <p:sp>
        <p:nvSpPr>
          <p:cNvPr id="43" name="Text 15">
            <a:extLst>
              <a:ext uri="{FF2B5EF4-FFF2-40B4-BE49-F238E27FC236}">
                <a16:creationId xmlns:a16="http://schemas.microsoft.com/office/drawing/2014/main" id="{CE9E5880-2207-AFC1-D435-DCA94E5DE052}"/>
              </a:ext>
            </a:extLst>
          </p:cNvPr>
          <p:cNvSpPr/>
          <p:nvPr/>
        </p:nvSpPr>
        <p:spPr>
          <a:xfrm>
            <a:off x="801242" y="5551748"/>
            <a:ext cx="4914138" cy="256032"/>
          </a:xfrm>
          <a:prstGeom prst="rect">
            <a:avLst/>
          </a:prstGeom>
          <a:noFill/>
        </p:spPr>
        <p:txBody>
          <a:bodyPr wrap="square" lIns="0" tIns="0" rIns="0" bIns="0" rtlCol="0" anchor="ctr">
            <a:normAutofit fontScale="92500" lnSpcReduction="10000"/>
          </a:bodyPr>
          <a:lstStyle/>
          <a:p>
            <a:pPr algn="ctr"/>
            <a:r>
              <a:rPr lang="en-PH" sz="1000" b="1" i="1" dirty="0" err="1"/>
              <a:t>PHAPi</a:t>
            </a:r>
            <a:r>
              <a:rPr lang="en-PH" sz="1000" b="1" i="1" dirty="0"/>
              <a:t> (2023–2024); locks up ₱4B to ₱10B in trapped hospital liquidity and delays patient clear</a:t>
            </a:r>
            <a:endParaRPr lang="en-PH" sz="500" b="1" dirty="0">
              <a:solidFill>
                <a:schemeClr val="accent1">
                  <a:lumMod val="75000"/>
                </a:schemeClr>
              </a:solidFill>
            </a:endParaRPr>
          </a:p>
        </p:txBody>
      </p:sp>
      <p:sp>
        <p:nvSpPr>
          <p:cNvPr id="45" name="TextBox 44">
            <a:extLst>
              <a:ext uri="{FF2B5EF4-FFF2-40B4-BE49-F238E27FC236}">
                <a16:creationId xmlns:a16="http://schemas.microsoft.com/office/drawing/2014/main" id="{E83A38A0-F050-C23A-8665-7AAAE6C98FA3}"/>
              </a:ext>
            </a:extLst>
          </p:cNvPr>
          <p:cNvSpPr txBox="1"/>
          <p:nvPr/>
        </p:nvSpPr>
        <p:spPr>
          <a:xfrm>
            <a:off x="3258311" y="4701986"/>
            <a:ext cx="2473310" cy="646331"/>
          </a:xfrm>
          <a:prstGeom prst="rect">
            <a:avLst/>
          </a:prstGeom>
          <a:noFill/>
        </p:spPr>
        <p:txBody>
          <a:bodyPr wrap="square" rtlCol="0">
            <a:spAutoFit/>
          </a:bodyPr>
          <a:lstStyle/>
          <a:p>
            <a:r>
              <a:rPr lang="en-PH" sz="1200" b="1" dirty="0">
                <a:solidFill>
                  <a:srgbClr val="0070C0"/>
                </a:solidFill>
              </a:rPr>
              <a:t>of initial claims are returned or denied by PhilHealth due to CLERICAL &amp; XML ERRORS.</a:t>
            </a:r>
            <a:endParaRPr lang="en-US" sz="1200" dirty="0">
              <a:solidFill>
                <a:srgbClr val="0070C0"/>
              </a:solidFill>
            </a:endParaRPr>
          </a:p>
        </p:txBody>
      </p:sp>
      <p:grpSp>
        <p:nvGrpSpPr>
          <p:cNvPr id="13" name="Group 12">
            <a:extLst>
              <a:ext uri="{FF2B5EF4-FFF2-40B4-BE49-F238E27FC236}">
                <a16:creationId xmlns:a16="http://schemas.microsoft.com/office/drawing/2014/main" id="{5677B7D6-5DAE-BF21-AC62-7EBAE0E0AB26}"/>
              </a:ext>
            </a:extLst>
          </p:cNvPr>
          <p:cNvGrpSpPr/>
          <p:nvPr/>
        </p:nvGrpSpPr>
        <p:grpSpPr>
          <a:xfrm>
            <a:off x="6478524" y="1011402"/>
            <a:ext cx="5234940" cy="5636286"/>
            <a:chOff x="6478524" y="1011402"/>
            <a:chExt cx="5234940" cy="5636286"/>
          </a:xfrm>
        </p:grpSpPr>
        <p:sp>
          <p:nvSpPr>
            <p:cNvPr id="9" name="Text 6"/>
            <p:cNvSpPr/>
            <p:nvPr/>
          </p:nvSpPr>
          <p:spPr>
            <a:xfrm>
              <a:off x="11484864" y="6537960"/>
              <a:ext cx="228600" cy="109728"/>
            </a:xfrm>
            <a:prstGeom prst="rect">
              <a:avLst/>
            </a:prstGeom>
            <a:noFill/>
          </p:spPr>
          <p:txBody>
            <a:bodyPr wrap="square" lIns="0" tIns="0" rIns="0" bIns="0" rtlCol="0" anchor="ctr">
              <a:normAutofit/>
            </a:bodyPr>
            <a:lstStyle/>
            <a:p>
              <a:pPr marL="0" indent="0" algn="r">
                <a:buNone/>
              </a:pPr>
              <a:r>
                <a:rPr lang="en-US" sz="550" dirty="0">
                  <a:solidFill>
                    <a:srgbClr val="8492A6"/>
                  </a:solidFill>
                  <a:ea typeface="Arial" panose="020B0604020202020204" pitchFamily="34" charset="-122"/>
                  <a:cs typeface="Arial" panose="020B0604020202020204" pitchFamily="34" charset="-120"/>
                </a:rPr>
                <a:t>4</a:t>
              </a:r>
              <a:endParaRPr lang="en-US" sz="550" dirty="0"/>
            </a:p>
          </p:txBody>
        </p:sp>
        <p:grpSp>
          <p:nvGrpSpPr>
            <p:cNvPr id="2" name="Group 1">
              <a:extLst>
                <a:ext uri="{FF2B5EF4-FFF2-40B4-BE49-F238E27FC236}">
                  <a16:creationId xmlns:a16="http://schemas.microsoft.com/office/drawing/2014/main" id="{DB8E4A94-7E57-8EF8-DC86-AEA7E4120896}"/>
                </a:ext>
              </a:extLst>
            </p:cNvPr>
            <p:cNvGrpSpPr/>
            <p:nvPr/>
          </p:nvGrpSpPr>
          <p:grpSpPr>
            <a:xfrm>
              <a:off x="6478524" y="1011402"/>
              <a:ext cx="5120640" cy="5204657"/>
              <a:chOff x="4535423" y="1109642"/>
              <a:chExt cx="5120640" cy="5204657"/>
            </a:xfrm>
          </p:grpSpPr>
          <p:sp>
            <p:nvSpPr>
              <p:cNvPr id="19" name="Shape 16"/>
              <p:cNvSpPr/>
              <p:nvPr/>
            </p:nvSpPr>
            <p:spPr>
              <a:xfrm>
                <a:off x="4535424" y="1109642"/>
                <a:ext cx="5120638" cy="1214525"/>
              </a:xfrm>
              <a:prstGeom prst="roundRect">
                <a:avLst>
                  <a:gd name="adj" fmla="val 7080"/>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20" name="Shape 17"/>
              <p:cNvSpPr/>
              <p:nvPr/>
            </p:nvSpPr>
            <p:spPr>
              <a:xfrm>
                <a:off x="4818888" y="1563320"/>
                <a:ext cx="411480" cy="411480"/>
              </a:xfrm>
              <a:prstGeom prst="ellipse">
                <a:avLst/>
              </a:prstGeom>
              <a:solidFill>
                <a:srgbClr val="0036B8"/>
              </a:solidFill>
              <a:ln w="12700">
                <a:solidFill>
                  <a:srgbClr val="0036B8"/>
                </a:solidFill>
                <a:prstDash val="solid"/>
              </a:ln>
            </p:spPr>
            <p:txBody>
              <a:bodyPr/>
              <a:lstStyle/>
              <a:p>
                <a:endParaRPr lang="en-PH"/>
              </a:p>
            </p:txBody>
          </p:sp>
          <p:sp>
            <p:nvSpPr>
              <p:cNvPr id="21" name="Text 18"/>
              <p:cNvSpPr/>
              <p:nvPr/>
            </p:nvSpPr>
            <p:spPr>
              <a:xfrm>
                <a:off x="4818888" y="1565300"/>
                <a:ext cx="411480" cy="425196"/>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1</a:t>
                </a:r>
                <a:endParaRPr lang="en-US" sz="1500" dirty="0"/>
              </a:p>
            </p:txBody>
          </p:sp>
          <p:sp>
            <p:nvSpPr>
              <p:cNvPr id="23" name="Text 20"/>
              <p:cNvSpPr/>
              <p:nvPr/>
            </p:nvSpPr>
            <p:spPr>
              <a:xfrm>
                <a:off x="5497391" y="1518856"/>
                <a:ext cx="3844682" cy="611532"/>
              </a:xfrm>
              <a:prstGeom prst="rect">
                <a:avLst/>
              </a:prstGeom>
              <a:noFill/>
            </p:spPr>
            <p:txBody>
              <a:bodyPr wrap="square" lIns="0" tIns="0" rIns="0" bIns="0" rtlCol="0" anchor="ctr">
                <a:normAutofit/>
              </a:bodyPr>
              <a:lstStyle/>
              <a:p>
                <a:r>
                  <a:rPr lang="en-PH" sz="1200" dirty="0"/>
                  <a:t>Patients struggle to understand how hospital charges, insurance coverage, and remaining balances are calculated.</a:t>
                </a:r>
                <a:endParaRPr lang="en-US" sz="1100" dirty="0"/>
              </a:p>
            </p:txBody>
          </p:sp>
          <p:sp>
            <p:nvSpPr>
              <p:cNvPr id="24" name="Shape 21"/>
              <p:cNvSpPr/>
              <p:nvPr/>
            </p:nvSpPr>
            <p:spPr>
              <a:xfrm>
                <a:off x="4535424" y="3006118"/>
                <a:ext cx="5120639" cy="1214524"/>
              </a:xfrm>
              <a:prstGeom prst="roundRect">
                <a:avLst>
                  <a:gd name="adj" fmla="val 7080"/>
                </a:avLst>
              </a:prstGeom>
              <a:solidFill>
                <a:srgbClr val="FFF3CF"/>
              </a:solidFill>
              <a:ln w="12700">
                <a:solidFill>
                  <a:srgbClr val="F7B500"/>
                </a:solidFill>
                <a:prstDash val="solid"/>
              </a:ln>
              <a:effectLst>
                <a:outerShdw blurRad="12700" dist="50800" dir="2700000" algn="bl" rotWithShape="0">
                  <a:srgbClr val="9AA9C1">
                    <a:alpha val="12000"/>
                  </a:srgbClr>
                </a:outerShdw>
              </a:effectLst>
            </p:spPr>
            <p:txBody>
              <a:bodyPr/>
              <a:lstStyle/>
              <a:p>
                <a:endParaRPr lang="en-PH" dirty="0"/>
              </a:p>
            </p:txBody>
          </p:sp>
          <p:sp>
            <p:nvSpPr>
              <p:cNvPr id="25" name="Shape 22"/>
              <p:cNvSpPr/>
              <p:nvPr/>
            </p:nvSpPr>
            <p:spPr>
              <a:xfrm>
                <a:off x="4805172" y="3423255"/>
                <a:ext cx="411480" cy="411480"/>
              </a:xfrm>
              <a:prstGeom prst="ellipse">
                <a:avLst/>
              </a:prstGeom>
              <a:solidFill>
                <a:srgbClr val="F7B500"/>
              </a:solidFill>
              <a:ln w="12700">
                <a:solidFill>
                  <a:srgbClr val="F7B500"/>
                </a:solidFill>
                <a:prstDash val="solid"/>
              </a:ln>
            </p:spPr>
            <p:txBody>
              <a:bodyPr/>
              <a:lstStyle/>
              <a:p>
                <a:endParaRPr lang="en-PH"/>
              </a:p>
            </p:txBody>
          </p:sp>
          <p:sp>
            <p:nvSpPr>
              <p:cNvPr id="26" name="Text 23"/>
              <p:cNvSpPr/>
              <p:nvPr/>
            </p:nvSpPr>
            <p:spPr>
              <a:xfrm>
                <a:off x="4802524" y="3467354"/>
                <a:ext cx="411480" cy="361188"/>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2</a:t>
                </a:r>
                <a:endParaRPr lang="en-US" sz="1500" dirty="0"/>
              </a:p>
            </p:txBody>
          </p:sp>
          <p:sp>
            <p:nvSpPr>
              <p:cNvPr id="27" name="Text 24"/>
              <p:cNvSpPr/>
              <p:nvPr/>
            </p:nvSpPr>
            <p:spPr>
              <a:xfrm>
                <a:off x="5497391" y="3100186"/>
                <a:ext cx="3954617" cy="304553"/>
              </a:xfrm>
              <a:prstGeom prst="rect">
                <a:avLst/>
              </a:prstGeom>
              <a:noFill/>
            </p:spPr>
            <p:txBody>
              <a:bodyPr wrap="square" lIns="0" tIns="0" rIns="0" bIns="0" rtlCol="0" anchor="ctr">
                <a:normAutofit/>
              </a:bodyPr>
              <a:lstStyle/>
              <a:p>
                <a:r>
                  <a:rPr lang="en-PH" sz="1600" b="1" dirty="0">
                    <a:solidFill>
                      <a:srgbClr val="FFB300"/>
                    </a:solidFill>
                  </a:rPr>
                  <a:t>Disconnected Insurance &amp; Hospital Data</a:t>
                </a:r>
                <a:endParaRPr lang="en-US" sz="1500" b="1" dirty="0">
                  <a:solidFill>
                    <a:srgbClr val="FFB300"/>
                  </a:solidFill>
                </a:endParaRPr>
              </a:p>
            </p:txBody>
          </p:sp>
          <p:sp>
            <p:nvSpPr>
              <p:cNvPr id="28" name="Text 25"/>
              <p:cNvSpPr/>
              <p:nvPr/>
            </p:nvSpPr>
            <p:spPr>
              <a:xfrm>
                <a:off x="5504689" y="3408094"/>
                <a:ext cx="3745190" cy="664767"/>
              </a:xfrm>
              <a:prstGeom prst="rect">
                <a:avLst/>
              </a:prstGeom>
              <a:noFill/>
            </p:spPr>
            <p:txBody>
              <a:bodyPr wrap="square" lIns="0" tIns="0" rIns="0" bIns="0" rtlCol="0" anchor="ctr">
                <a:normAutofit/>
              </a:bodyPr>
              <a:lstStyle/>
              <a:p>
                <a:r>
                  <a:rPr lang="en-PH" sz="1200" dirty="0"/>
                  <a:t>Billing information and insurance coverage are often handled across separate systems, making reconciliation slow and error-prone.</a:t>
                </a:r>
                <a:endParaRPr lang="en-US" sz="1100" dirty="0"/>
              </a:p>
            </p:txBody>
          </p:sp>
          <p:sp>
            <p:nvSpPr>
              <p:cNvPr id="29" name="Shape 26"/>
              <p:cNvSpPr/>
              <p:nvPr/>
            </p:nvSpPr>
            <p:spPr>
              <a:xfrm>
                <a:off x="4535423" y="4862914"/>
                <a:ext cx="5120639" cy="1451385"/>
              </a:xfrm>
              <a:prstGeom prst="roundRect">
                <a:avLst>
                  <a:gd name="adj" fmla="val 7080"/>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30" name="Shape 27"/>
              <p:cNvSpPr/>
              <p:nvPr/>
            </p:nvSpPr>
            <p:spPr>
              <a:xfrm>
                <a:off x="4802524" y="5379551"/>
                <a:ext cx="411480" cy="421129"/>
              </a:xfrm>
              <a:prstGeom prst="ellipse">
                <a:avLst/>
              </a:prstGeom>
              <a:solidFill>
                <a:srgbClr val="0036B8"/>
              </a:solidFill>
              <a:ln w="12700">
                <a:solidFill>
                  <a:srgbClr val="0036B8"/>
                </a:solidFill>
                <a:prstDash val="solid"/>
              </a:ln>
            </p:spPr>
            <p:txBody>
              <a:bodyPr/>
              <a:lstStyle/>
              <a:p>
                <a:endParaRPr lang="en-PH"/>
              </a:p>
            </p:txBody>
          </p:sp>
          <p:sp>
            <p:nvSpPr>
              <p:cNvPr id="31" name="Text 28"/>
              <p:cNvSpPr/>
              <p:nvPr/>
            </p:nvSpPr>
            <p:spPr>
              <a:xfrm>
                <a:off x="4810667" y="5416045"/>
                <a:ext cx="411480" cy="388620"/>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3</a:t>
                </a:r>
                <a:endParaRPr lang="en-US" sz="1500" dirty="0"/>
              </a:p>
            </p:txBody>
          </p:sp>
          <p:sp>
            <p:nvSpPr>
              <p:cNvPr id="32" name="Text 29"/>
              <p:cNvSpPr/>
              <p:nvPr/>
            </p:nvSpPr>
            <p:spPr>
              <a:xfrm>
                <a:off x="5497391" y="4990448"/>
                <a:ext cx="3837385" cy="377630"/>
              </a:xfrm>
              <a:prstGeom prst="rect">
                <a:avLst/>
              </a:prstGeom>
              <a:noFill/>
            </p:spPr>
            <p:txBody>
              <a:bodyPr wrap="square" lIns="0" tIns="0" rIns="0" bIns="0" rtlCol="0" anchor="ctr">
                <a:normAutofit fontScale="85000" lnSpcReduction="20000"/>
              </a:bodyPr>
              <a:lstStyle/>
              <a:p>
                <a:r>
                  <a:rPr lang="en-PH" sz="1600" b="1" dirty="0">
                    <a:solidFill>
                      <a:srgbClr val="0037B8"/>
                    </a:solidFill>
                  </a:rPr>
                  <a:t>Insurance/Billing Disputes and Transparency </a:t>
                </a:r>
              </a:p>
              <a:p>
                <a:r>
                  <a:rPr lang="en-PH" sz="1600" b="1" dirty="0">
                    <a:solidFill>
                      <a:srgbClr val="0037B8"/>
                    </a:solidFill>
                  </a:rPr>
                  <a:t>Concerns</a:t>
                </a:r>
              </a:p>
            </p:txBody>
          </p:sp>
          <p:sp>
            <p:nvSpPr>
              <p:cNvPr id="33" name="Text 30"/>
              <p:cNvSpPr/>
              <p:nvPr/>
            </p:nvSpPr>
            <p:spPr>
              <a:xfrm>
                <a:off x="5497391" y="5446557"/>
                <a:ext cx="3904873" cy="707203"/>
              </a:xfrm>
              <a:prstGeom prst="rect">
                <a:avLst/>
              </a:prstGeom>
              <a:noFill/>
            </p:spPr>
            <p:txBody>
              <a:bodyPr wrap="square" lIns="0" tIns="0" rIns="0" bIns="0" rtlCol="0" anchor="ctr">
                <a:normAutofit/>
              </a:bodyPr>
              <a:lstStyle/>
              <a:p>
                <a:r>
                  <a:rPr lang="en-PH" sz="1200" dirty="0"/>
                  <a:t>Patients may not know exactly what their insurance covers, what they owe, and why they owe it leading to confusion, disputes, and delayed payments.</a:t>
                </a:r>
                <a:endParaRPr lang="en-US" sz="1200" dirty="0"/>
              </a:p>
            </p:txBody>
          </p:sp>
        </p:grpSp>
        <p:sp>
          <p:nvSpPr>
            <p:cNvPr id="22" name="Text 19"/>
            <p:cNvSpPr/>
            <p:nvPr/>
          </p:nvSpPr>
          <p:spPr>
            <a:xfrm>
              <a:off x="7447790" y="1082050"/>
              <a:ext cx="3916799" cy="425195"/>
            </a:xfrm>
            <a:prstGeom prst="rect">
              <a:avLst/>
            </a:prstGeom>
            <a:noFill/>
          </p:spPr>
          <p:txBody>
            <a:bodyPr wrap="square" lIns="0" tIns="0" rIns="0" bIns="0" rtlCol="0" anchor="ctr">
              <a:normAutofit/>
            </a:bodyPr>
            <a:lstStyle/>
            <a:p>
              <a:r>
                <a:rPr lang="en-PH" sz="1600" b="1" dirty="0">
                  <a:solidFill>
                    <a:srgbClr val="0037B8"/>
                  </a:solidFill>
                </a:rPr>
                <a:t>Unclear Patient Financial Responsibility</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p:cNvGrpSpPr/>
        <p:nvPr/>
      </p:nvGrpSpPr>
      <p:grpSpPr>
        <a:xfrm>
          <a:off x="0" y="0"/>
          <a:ext cx="0" cy="0"/>
          <a:chOff x="0" y="0"/>
          <a:chExt cx="0" cy="0"/>
        </a:xfrm>
      </p:grpSpPr>
      <p:sp>
        <p:nvSpPr>
          <p:cNvPr id="58" name="Shape 26">
            <a:extLst>
              <a:ext uri="{FF2B5EF4-FFF2-40B4-BE49-F238E27FC236}">
                <a16:creationId xmlns:a16="http://schemas.microsoft.com/office/drawing/2014/main" id="{4F5FC6FB-F6C8-F3B6-C2D2-EACEFF9D26EC}"/>
              </a:ext>
            </a:extLst>
          </p:cNvPr>
          <p:cNvSpPr/>
          <p:nvPr/>
        </p:nvSpPr>
        <p:spPr>
          <a:xfrm>
            <a:off x="9538596" y="1678456"/>
            <a:ext cx="1947672" cy="4059555"/>
          </a:xfrm>
          <a:prstGeom prst="roundRect">
            <a:avLst>
              <a:gd name="adj" fmla="val 3756"/>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47" name="Arrow: Curved Left 46">
            <a:extLst>
              <a:ext uri="{FF2B5EF4-FFF2-40B4-BE49-F238E27FC236}">
                <a16:creationId xmlns:a16="http://schemas.microsoft.com/office/drawing/2014/main" id="{5707DFA8-6ABE-3B77-9CEE-805921439951}"/>
              </a:ext>
            </a:extLst>
          </p:cNvPr>
          <p:cNvSpPr/>
          <p:nvPr/>
        </p:nvSpPr>
        <p:spPr>
          <a:xfrm rot="5400000">
            <a:off x="5552477" y="1296378"/>
            <a:ext cx="758951" cy="994366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pic>
        <p:nvPicPr>
          <p:cNvPr id="2" name="Image 0" descr="/mnt/data/pptx_extract/ppt/media/image1.png"/>
          <p:cNvPicPr>
            <a:picLocks noChangeAspect="1"/>
          </p:cNvPicPr>
          <p:nvPr/>
        </p:nvPicPr>
        <p:blipFill>
          <a:blip r:embed="rId3"/>
          <a:stretch>
            <a:fillRect/>
          </a:stretch>
        </p:blipFill>
        <p:spPr>
          <a:xfrm>
            <a:off x="210312" y="118872"/>
            <a:ext cx="1261872" cy="402336"/>
          </a:xfrm>
          <a:prstGeom prst="rect">
            <a:avLst/>
          </a:prstGeom>
        </p:spPr>
      </p:pic>
      <p:sp>
        <p:nvSpPr>
          <p:cNvPr id="3" name="Text 0"/>
          <p:cNvSpPr/>
          <p:nvPr/>
        </p:nvSpPr>
        <p:spPr>
          <a:xfrm>
            <a:off x="1572768" y="36576"/>
            <a:ext cx="6035040" cy="292608"/>
          </a:xfrm>
          <a:prstGeom prst="rect">
            <a:avLst/>
          </a:prstGeom>
          <a:noFill/>
        </p:spPr>
        <p:txBody>
          <a:bodyPr wrap="square" lIns="0" tIns="0" rIns="0" bIns="0" rtlCol="0" anchor="ctr">
            <a:normAutofit fontScale="92500" lnSpcReduction="10000"/>
          </a:bodyPr>
          <a:lstStyle/>
          <a:p>
            <a:pPr marL="0" indent="0">
              <a:buNone/>
            </a:pPr>
            <a:r>
              <a:rPr lang="en-US" sz="2250" b="1" dirty="0">
                <a:solidFill>
                  <a:srgbClr val="082B7F"/>
                </a:solidFill>
                <a:ea typeface="Arial" panose="020B0604020202020204" pitchFamily="34" charset="-122"/>
                <a:cs typeface="Arial" panose="020B0604020202020204" pitchFamily="34" charset="-120"/>
              </a:rPr>
              <a:t>Proposed Solution</a:t>
            </a:r>
            <a:endParaRPr lang="en-US" sz="2250" dirty="0"/>
          </a:p>
        </p:txBody>
      </p:sp>
      <p:sp>
        <p:nvSpPr>
          <p:cNvPr id="4" name="Text 1"/>
          <p:cNvSpPr/>
          <p:nvPr/>
        </p:nvSpPr>
        <p:spPr>
          <a:xfrm>
            <a:off x="1581912" y="329184"/>
            <a:ext cx="7269480" cy="182880"/>
          </a:xfrm>
          <a:prstGeom prst="rect">
            <a:avLst/>
          </a:prstGeom>
          <a:noFill/>
        </p:spPr>
        <p:txBody>
          <a:bodyPr wrap="square" lIns="0" tIns="0" rIns="0" bIns="0" rtlCol="0" anchor="ctr">
            <a:normAutofit/>
          </a:bodyPr>
          <a:lstStyle/>
          <a:p>
            <a:pPr marL="0" indent="0">
              <a:buNone/>
            </a:pPr>
            <a:r>
              <a:rPr lang="en-US" sz="850" dirty="0">
                <a:solidFill>
                  <a:srgbClr val="5E6F8A"/>
                </a:solidFill>
                <a:ea typeface="Arial" panose="020B0604020202020204" pitchFamily="34" charset="-122"/>
                <a:cs typeface="Arial" panose="020B0604020202020204" pitchFamily="34" charset="-120"/>
              </a:rPr>
              <a:t>One closed loop turns a recommended journey into pilot evidence.</a:t>
            </a:r>
            <a:endParaRPr lang="en-US" sz="850" dirty="0"/>
          </a:p>
        </p:txBody>
      </p:sp>
      <p:sp>
        <p:nvSpPr>
          <p:cNvPr id="5" name="Shape 2"/>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p>
        </p:txBody>
      </p:sp>
      <p:sp>
        <p:nvSpPr>
          <p:cNvPr id="6" name="Shape 3"/>
          <p:cNvSpPr/>
          <p:nvPr/>
        </p:nvSpPr>
        <p:spPr>
          <a:xfrm>
            <a:off x="7159752" y="630936"/>
            <a:ext cx="685800" cy="22860"/>
          </a:xfrm>
          <a:prstGeom prst="rect">
            <a:avLst/>
          </a:prstGeom>
          <a:solidFill>
            <a:srgbClr val="F7B500"/>
          </a:solidFill>
          <a:ln w="12700">
            <a:solidFill>
              <a:srgbClr val="F7B500"/>
            </a:solidFill>
            <a:prstDash val="solid"/>
          </a:ln>
        </p:spPr>
        <p:txBody>
          <a:bodyPr/>
          <a:lstStyle/>
          <a:p>
            <a:endParaRPr lang="en-PH"/>
          </a:p>
        </p:txBody>
      </p:sp>
      <p:sp>
        <p:nvSpPr>
          <p:cNvPr id="7" name="Text 4"/>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ea typeface="Arial" panose="020B0604020202020204" pitchFamily="34" charset="-122"/>
                <a:cs typeface="Arial" panose="020B0604020202020204" pitchFamily="34" charset="-120"/>
              </a:rPr>
              <a:t>5/10</a:t>
            </a:r>
            <a:endParaRPr lang="en-US" sz="950" dirty="0"/>
          </a:p>
        </p:txBody>
      </p:sp>
      <p:sp>
        <p:nvSpPr>
          <p:cNvPr id="8" name="Text 5"/>
          <p:cNvSpPr/>
          <p:nvPr/>
        </p:nvSpPr>
        <p:spPr>
          <a:xfrm>
            <a:off x="210312" y="6601968"/>
            <a:ext cx="5120640" cy="118872"/>
          </a:xfrm>
          <a:prstGeom prst="rect">
            <a:avLst/>
          </a:prstGeom>
          <a:noFill/>
        </p:spPr>
        <p:txBody>
          <a:bodyPr wrap="square" lIns="0" tIns="0" rIns="0" bIns="0" rtlCol="0" anchor="ctr">
            <a:normAutofit/>
          </a:bodyPr>
          <a:lstStyle/>
          <a:p>
            <a:pPr marL="0" indent="0">
              <a:buNone/>
            </a:pPr>
            <a:r>
              <a:rPr lang="en-US" sz="560" dirty="0">
                <a:solidFill>
                  <a:srgbClr val="5E6F8A"/>
                </a:solidFill>
                <a:ea typeface="Arial" panose="020B0604020202020204" pitchFamily="34" charset="-122"/>
                <a:cs typeface="Arial" panose="020B0604020202020204" pitchFamily="34" charset="-120"/>
              </a:rPr>
              <a:t>LakbayPoints • MMITS Bagong Gawi, Bagong Galaw Challenge</a:t>
            </a:r>
            <a:endParaRPr lang="en-US" sz="560" dirty="0"/>
          </a:p>
        </p:txBody>
      </p:sp>
      <p:sp>
        <p:nvSpPr>
          <p:cNvPr id="9" name="Text 6"/>
          <p:cNvSpPr/>
          <p:nvPr/>
        </p:nvSpPr>
        <p:spPr>
          <a:xfrm>
            <a:off x="11484864" y="6537960"/>
            <a:ext cx="228600" cy="109728"/>
          </a:xfrm>
          <a:prstGeom prst="rect">
            <a:avLst/>
          </a:prstGeom>
          <a:noFill/>
        </p:spPr>
        <p:txBody>
          <a:bodyPr wrap="square" lIns="0" tIns="0" rIns="0" bIns="0" rtlCol="0" anchor="ctr">
            <a:normAutofit/>
          </a:bodyPr>
          <a:lstStyle/>
          <a:p>
            <a:pPr marL="0" indent="0" algn="r">
              <a:buNone/>
            </a:pPr>
            <a:r>
              <a:rPr lang="en-US" sz="550" dirty="0">
                <a:solidFill>
                  <a:srgbClr val="8492A6"/>
                </a:solidFill>
                <a:ea typeface="Arial" panose="020B0604020202020204" pitchFamily="34" charset="-122"/>
                <a:cs typeface="Arial" panose="020B0604020202020204" pitchFamily="34" charset="-120"/>
              </a:rPr>
              <a:t>5</a:t>
            </a:r>
            <a:endParaRPr lang="en-US" sz="550" dirty="0"/>
          </a:p>
        </p:txBody>
      </p:sp>
      <p:sp>
        <p:nvSpPr>
          <p:cNvPr id="10" name="Text 7"/>
          <p:cNvSpPr/>
          <p:nvPr/>
        </p:nvSpPr>
        <p:spPr>
          <a:xfrm>
            <a:off x="2194560" y="969264"/>
            <a:ext cx="7863840" cy="329184"/>
          </a:xfrm>
          <a:prstGeom prst="rect">
            <a:avLst/>
          </a:prstGeom>
          <a:noFill/>
        </p:spPr>
        <p:txBody>
          <a:bodyPr wrap="square" lIns="0" tIns="0" rIns="0" bIns="0" rtlCol="0" anchor="ctr">
            <a:normAutofit fontScale="85000" lnSpcReduction="10000"/>
          </a:bodyPr>
          <a:lstStyle/>
          <a:p>
            <a:pPr marL="0" indent="0" algn="ctr">
              <a:buNone/>
            </a:pPr>
            <a:r>
              <a:rPr lang="en-US" sz="2500" b="1" dirty="0">
                <a:solidFill>
                  <a:srgbClr val="082B7F"/>
                </a:solidFill>
                <a:ea typeface="Arial" panose="020B0604020202020204" pitchFamily="34" charset="-122"/>
                <a:cs typeface="Arial" panose="020B0604020202020204" pitchFamily="34" charset="-120"/>
              </a:rPr>
              <a:t>Ingest  →  Reconcile  →  Clarify  →  Settle  →  Accelerate</a:t>
            </a:r>
            <a:endParaRPr lang="en-US" sz="2500" dirty="0"/>
          </a:p>
        </p:txBody>
      </p:sp>
      <p:sp>
        <p:nvSpPr>
          <p:cNvPr id="11" name="Shape 8"/>
          <p:cNvSpPr/>
          <p:nvPr/>
        </p:nvSpPr>
        <p:spPr>
          <a:xfrm>
            <a:off x="448056" y="1613916"/>
            <a:ext cx="1947672" cy="4059555"/>
          </a:xfrm>
          <a:prstGeom prst="roundRect">
            <a:avLst>
              <a:gd name="adj" fmla="val 3756"/>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dirty="0"/>
          </a:p>
        </p:txBody>
      </p:sp>
      <p:sp>
        <p:nvSpPr>
          <p:cNvPr id="12" name="Shape 9"/>
          <p:cNvSpPr/>
          <p:nvPr/>
        </p:nvSpPr>
        <p:spPr>
          <a:xfrm>
            <a:off x="1143000" y="1773936"/>
            <a:ext cx="539496" cy="539496"/>
          </a:xfrm>
          <a:prstGeom prst="ellipse">
            <a:avLst/>
          </a:prstGeom>
          <a:solidFill>
            <a:srgbClr val="0036B8"/>
          </a:solidFill>
          <a:ln w="12700">
            <a:solidFill>
              <a:srgbClr val="0036B8"/>
            </a:solidFill>
            <a:prstDash val="solid"/>
          </a:ln>
        </p:spPr>
        <p:txBody>
          <a:bodyPr/>
          <a:lstStyle/>
          <a:p>
            <a:endParaRPr lang="en-PH"/>
          </a:p>
        </p:txBody>
      </p:sp>
      <p:sp>
        <p:nvSpPr>
          <p:cNvPr id="13" name="Text 10"/>
          <p:cNvSpPr/>
          <p:nvPr/>
        </p:nvSpPr>
        <p:spPr>
          <a:xfrm>
            <a:off x="1161288" y="1853566"/>
            <a:ext cx="539496" cy="368503"/>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1</a:t>
            </a:r>
            <a:endParaRPr lang="en-US" sz="1500" dirty="0"/>
          </a:p>
        </p:txBody>
      </p:sp>
      <p:sp>
        <p:nvSpPr>
          <p:cNvPr id="14" name="Text 11"/>
          <p:cNvSpPr/>
          <p:nvPr/>
        </p:nvSpPr>
        <p:spPr>
          <a:xfrm>
            <a:off x="640080" y="2415236"/>
            <a:ext cx="1554480" cy="256032"/>
          </a:xfrm>
          <a:prstGeom prst="rect">
            <a:avLst/>
          </a:prstGeom>
          <a:noFill/>
        </p:spPr>
        <p:txBody>
          <a:bodyPr wrap="square" lIns="0" tIns="0" rIns="0" bIns="0" rtlCol="0" anchor="ctr">
            <a:normAutofit lnSpcReduction="10000"/>
          </a:bodyPr>
          <a:lstStyle/>
          <a:p>
            <a:pPr marL="0" indent="0" algn="ctr">
              <a:buNone/>
            </a:pPr>
            <a:r>
              <a:rPr lang="en-US" sz="1720" b="1" dirty="0">
                <a:solidFill>
                  <a:srgbClr val="082B7F"/>
                </a:solidFill>
                <a:cs typeface="Arial" panose="020B0604020202020204" pitchFamily="34" charset="-120"/>
              </a:rPr>
              <a:t>Ingest</a:t>
            </a:r>
            <a:endParaRPr lang="en-US" sz="1720" dirty="0"/>
          </a:p>
        </p:txBody>
      </p:sp>
      <p:sp>
        <p:nvSpPr>
          <p:cNvPr id="15" name="Text 12"/>
          <p:cNvSpPr/>
          <p:nvPr/>
        </p:nvSpPr>
        <p:spPr>
          <a:xfrm>
            <a:off x="640080" y="2925167"/>
            <a:ext cx="1536192" cy="713232"/>
          </a:xfrm>
          <a:prstGeom prst="rect">
            <a:avLst/>
          </a:prstGeom>
          <a:noFill/>
        </p:spPr>
        <p:txBody>
          <a:bodyPr wrap="square" lIns="0" tIns="0" rIns="0" bIns="0" rtlCol="0" anchor="ctr">
            <a:noAutofit/>
          </a:bodyPr>
          <a:lstStyle/>
          <a:p>
            <a:pPr algn="ctr"/>
            <a:r>
              <a:rPr lang="en-PH" sz="1100" dirty="0">
                <a:solidFill>
                  <a:schemeClr val="bg2">
                    <a:lumMod val="50000"/>
                  </a:schemeClr>
                </a:solidFill>
              </a:rPr>
              <a:t>Non-invasively capture hospital charges, pharmacy requisitions, and bedside orders from legacy hospital databases in real time.</a:t>
            </a:r>
            <a:endParaRPr lang="en-US" sz="900" dirty="0">
              <a:solidFill>
                <a:schemeClr val="bg2">
                  <a:lumMod val="50000"/>
                </a:schemeClr>
              </a:solidFill>
              <a:ea typeface="Arial" panose="020B0604020202020204" pitchFamily="34" charset="-122"/>
              <a:cs typeface="Arial" panose="020B0604020202020204" pitchFamily="34" charset="-120"/>
            </a:endParaRPr>
          </a:p>
        </p:txBody>
      </p:sp>
      <p:sp>
        <p:nvSpPr>
          <p:cNvPr id="16" name="Shape 13"/>
          <p:cNvSpPr/>
          <p:nvPr/>
        </p:nvSpPr>
        <p:spPr>
          <a:xfrm>
            <a:off x="2414016" y="3337560"/>
            <a:ext cx="274320" cy="0"/>
          </a:xfrm>
          <a:prstGeom prst="line">
            <a:avLst/>
          </a:prstGeom>
          <a:noFill/>
          <a:ln w="19050">
            <a:solidFill>
              <a:srgbClr val="F7B500"/>
            </a:solidFill>
            <a:prstDash val="solid"/>
            <a:tailEnd type="triangle"/>
          </a:ln>
        </p:spPr>
        <p:txBody>
          <a:bodyPr/>
          <a:lstStyle/>
          <a:p>
            <a:endParaRPr lang="en-PH"/>
          </a:p>
        </p:txBody>
      </p:sp>
      <p:sp>
        <p:nvSpPr>
          <p:cNvPr id="17" name="Shape 14"/>
          <p:cNvSpPr/>
          <p:nvPr/>
        </p:nvSpPr>
        <p:spPr>
          <a:xfrm>
            <a:off x="2715768" y="1608622"/>
            <a:ext cx="1947672" cy="4059555"/>
          </a:xfrm>
          <a:prstGeom prst="roundRect">
            <a:avLst>
              <a:gd name="adj" fmla="val 3756"/>
            </a:avLst>
          </a:prstGeom>
          <a:solidFill>
            <a:schemeClr val="bg1"/>
          </a:solidFill>
          <a:ln w="12700">
            <a:solidFill>
              <a:srgbClr val="F7B500"/>
            </a:solidFill>
            <a:prstDash val="solid"/>
          </a:ln>
          <a:effectLst>
            <a:outerShdw blurRad="12700" dist="50800" dir="2700000" algn="bl" rotWithShape="0">
              <a:srgbClr val="9AA9C1">
                <a:alpha val="12000"/>
              </a:srgbClr>
            </a:outerShdw>
          </a:effectLst>
        </p:spPr>
        <p:txBody>
          <a:bodyPr/>
          <a:lstStyle/>
          <a:p>
            <a:endParaRPr lang="en-PH"/>
          </a:p>
        </p:txBody>
      </p:sp>
      <p:sp>
        <p:nvSpPr>
          <p:cNvPr id="18" name="Shape 15"/>
          <p:cNvSpPr/>
          <p:nvPr/>
        </p:nvSpPr>
        <p:spPr>
          <a:xfrm>
            <a:off x="3401568" y="1786938"/>
            <a:ext cx="539496" cy="539496"/>
          </a:xfrm>
          <a:prstGeom prst="ellipse">
            <a:avLst/>
          </a:prstGeom>
          <a:solidFill>
            <a:srgbClr val="F7B500"/>
          </a:solidFill>
          <a:ln w="12700">
            <a:solidFill>
              <a:srgbClr val="F7B500"/>
            </a:solidFill>
            <a:prstDash val="solid"/>
          </a:ln>
        </p:spPr>
        <p:txBody>
          <a:bodyPr/>
          <a:lstStyle/>
          <a:p>
            <a:endParaRPr lang="en-PH"/>
          </a:p>
        </p:txBody>
      </p:sp>
      <p:sp>
        <p:nvSpPr>
          <p:cNvPr id="19" name="Text 16"/>
          <p:cNvSpPr/>
          <p:nvPr/>
        </p:nvSpPr>
        <p:spPr>
          <a:xfrm>
            <a:off x="3410712" y="1920673"/>
            <a:ext cx="539496" cy="299210"/>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2</a:t>
            </a:r>
            <a:endParaRPr lang="en-US" sz="1500" dirty="0"/>
          </a:p>
        </p:txBody>
      </p:sp>
      <p:sp>
        <p:nvSpPr>
          <p:cNvPr id="20" name="Text 17"/>
          <p:cNvSpPr/>
          <p:nvPr/>
        </p:nvSpPr>
        <p:spPr>
          <a:xfrm>
            <a:off x="2907792" y="2412541"/>
            <a:ext cx="1554480" cy="256032"/>
          </a:xfrm>
          <a:prstGeom prst="rect">
            <a:avLst/>
          </a:prstGeom>
          <a:noFill/>
        </p:spPr>
        <p:txBody>
          <a:bodyPr wrap="square" lIns="0" tIns="0" rIns="0" bIns="0" rtlCol="0" anchor="ctr">
            <a:normAutofit lnSpcReduction="10000"/>
          </a:bodyPr>
          <a:lstStyle/>
          <a:p>
            <a:pPr marL="0" indent="0" algn="ctr">
              <a:buNone/>
            </a:pPr>
            <a:r>
              <a:rPr lang="en-US" sz="1720" b="1" dirty="0">
                <a:solidFill>
                  <a:srgbClr val="C78B00"/>
                </a:solidFill>
                <a:cs typeface="Arial" panose="020B0604020202020204" pitchFamily="34" charset="-120"/>
              </a:rPr>
              <a:t>Reconcile</a:t>
            </a:r>
            <a:endParaRPr lang="en-US" sz="1720" dirty="0"/>
          </a:p>
        </p:txBody>
      </p:sp>
      <p:sp>
        <p:nvSpPr>
          <p:cNvPr id="21" name="Text 18"/>
          <p:cNvSpPr/>
          <p:nvPr/>
        </p:nvSpPr>
        <p:spPr>
          <a:xfrm>
            <a:off x="2916936" y="2988613"/>
            <a:ext cx="1536192" cy="713232"/>
          </a:xfrm>
          <a:prstGeom prst="rect">
            <a:avLst/>
          </a:prstGeom>
          <a:noFill/>
        </p:spPr>
        <p:txBody>
          <a:bodyPr wrap="square" lIns="0" tIns="0" rIns="0" bIns="0" rtlCol="0" anchor="ctr">
            <a:noAutofit/>
          </a:bodyPr>
          <a:lstStyle/>
          <a:p>
            <a:pPr algn="ctr"/>
            <a:r>
              <a:rPr lang="en-PH" sz="1050" dirty="0">
                <a:solidFill>
                  <a:schemeClr val="bg2">
                    <a:lumMod val="50000"/>
                  </a:schemeClr>
                </a:solidFill>
              </a:rPr>
              <a:t>Automatically calculate the statutory deduction cascade: 12% VAT exemption, 20% SC/PWD discount, PhilHealth ACR, and HMO policy caps.</a:t>
            </a:r>
            <a:endParaRPr lang="en-US" sz="700" dirty="0">
              <a:solidFill>
                <a:schemeClr val="bg2">
                  <a:lumMod val="50000"/>
                </a:schemeClr>
              </a:solidFill>
              <a:ea typeface="Arial" panose="020B0604020202020204" pitchFamily="34" charset="-122"/>
              <a:cs typeface="Arial" panose="020B0604020202020204" pitchFamily="34" charset="-120"/>
            </a:endParaRPr>
          </a:p>
        </p:txBody>
      </p:sp>
      <p:sp>
        <p:nvSpPr>
          <p:cNvPr id="22" name="Shape 19"/>
          <p:cNvSpPr/>
          <p:nvPr/>
        </p:nvSpPr>
        <p:spPr>
          <a:xfrm>
            <a:off x="4681728" y="3337560"/>
            <a:ext cx="274320" cy="0"/>
          </a:xfrm>
          <a:prstGeom prst="line">
            <a:avLst/>
          </a:prstGeom>
          <a:noFill/>
          <a:ln w="19050">
            <a:solidFill>
              <a:srgbClr val="F7B500"/>
            </a:solidFill>
            <a:prstDash val="solid"/>
            <a:tailEnd type="triangle"/>
          </a:ln>
        </p:spPr>
        <p:txBody>
          <a:bodyPr/>
          <a:lstStyle/>
          <a:p>
            <a:endParaRPr lang="en-PH"/>
          </a:p>
        </p:txBody>
      </p:sp>
      <p:sp>
        <p:nvSpPr>
          <p:cNvPr id="23" name="Shape 20"/>
          <p:cNvSpPr/>
          <p:nvPr/>
        </p:nvSpPr>
        <p:spPr>
          <a:xfrm>
            <a:off x="4974336" y="1645919"/>
            <a:ext cx="1947672" cy="4059555"/>
          </a:xfrm>
          <a:prstGeom prst="roundRect">
            <a:avLst>
              <a:gd name="adj" fmla="val 3756"/>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dirty="0"/>
          </a:p>
        </p:txBody>
      </p:sp>
      <p:sp>
        <p:nvSpPr>
          <p:cNvPr id="24" name="Shape 21"/>
          <p:cNvSpPr/>
          <p:nvPr/>
        </p:nvSpPr>
        <p:spPr>
          <a:xfrm>
            <a:off x="5669280" y="1778444"/>
            <a:ext cx="539496" cy="539496"/>
          </a:xfrm>
          <a:prstGeom prst="ellipse">
            <a:avLst/>
          </a:prstGeom>
          <a:solidFill>
            <a:srgbClr val="00B0F0"/>
          </a:solidFill>
          <a:ln w="12700">
            <a:solidFill>
              <a:srgbClr val="00B0F0"/>
            </a:solidFill>
            <a:prstDash val="solid"/>
          </a:ln>
        </p:spPr>
        <p:txBody>
          <a:bodyPr/>
          <a:lstStyle/>
          <a:p>
            <a:endParaRPr lang="en-PH" dirty="0">
              <a:highlight>
                <a:srgbClr val="0037B8"/>
              </a:highlight>
            </a:endParaRPr>
          </a:p>
        </p:txBody>
      </p:sp>
      <p:sp>
        <p:nvSpPr>
          <p:cNvPr id="25" name="Text 22"/>
          <p:cNvSpPr/>
          <p:nvPr/>
        </p:nvSpPr>
        <p:spPr>
          <a:xfrm>
            <a:off x="5669280" y="1872056"/>
            <a:ext cx="539496" cy="377647"/>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3</a:t>
            </a:r>
            <a:endParaRPr lang="en-US" sz="1500" dirty="0"/>
          </a:p>
        </p:txBody>
      </p:sp>
      <p:sp>
        <p:nvSpPr>
          <p:cNvPr id="26" name="Text 23"/>
          <p:cNvSpPr/>
          <p:nvPr/>
        </p:nvSpPr>
        <p:spPr>
          <a:xfrm>
            <a:off x="5175504" y="2457450"/>
            <a:ext cx="1554480" cy="256032"/>
          </a:xfrm>
          <a:prstGeom prst="rect">
            <a:avLst/>
          </a:prstGeom>
          <a:noFill/>
          <a:ln>
            <a:noFill/>
          </a:ln>
        </p:spPr>
        <p:txBody>
          <a:bodyPr wrap="square" lIns="0" tIns="0" rIns="0" bIns="0" rtlCol="0" anchor="ctr">
            <a:normAutofit lnSpcReduction="10000"/>
          </a:bodyPr>
          <a:lstStyle/>
          <a:p>
            <a:pPr marL="0" indent="0" algn="ctr">
              <a:buNone/>
            </a:pPr>
            <a:r>
              <a:rPr lang="en-US" sz="1720" b="1" dirty="0">
                <a:solidFill>
                  <a:srgbClr val="00B0F0"/>
                </a:solidFill>
                <a:cs typeface="Arial" panose="020B0604020202020204" pitchFamily="34" charset="-120"/>
              </a:rPr>
              <a:t>Clarify</a:t>
            </a:r>
            <a:endParaRPr lang="en-US" sz="1720" dirty="0">
              <a:solidFill>
                <a:srgbClr val="00B0F0"/>
              </a:solidFill>
            </a:endParaRPr>
          </a:p>
        </p:txBody>
      </p:sp>
      <p:sp>
        <p:nvSpPr>
          <p:cNvPr id="27" name="Text 24"/>
          <p:cNvSpPr/>
          <p:nvPr/>
        </p:nvSpPr>
        <p:spPr>
          <a:xfrm>
            <a:off x="5166360" y="3012526"/>
            <a:ext cx="1536192" cy="713232"/>
          </a:xfrm>
          <a:prstGeom prst="rect">
            <a:avLst/>
          </a:prstGeom>
          <a:noFill/>
        </p:spPr>
        <p:txBody>
          <a:bodyPr wrap="square" lIns="0" tIns="0" rIns="0" bIns="0" rtlCol="0" anchor="ctr">
            <a:noAutofit/>
          </a:bodyPr>
          <a:lstStyle/>
          <a:p>
            <a:pPr algn="ctr"/>
            <a:r>
              <a:rPr lang="en-PH" sz="1050" dirty="0">
                <a:solidFill>
                  <a:schemeClr val="bg2">
                    <a:lumMod val="50000"/>
                  </a:schemeClr>
                </a:solidFill>
              </a:rPr>
              <a:t>Deliver a transparent, plain-language running ledger to the patient’s smartphone via SMS magic link—explaining covered vs. excluded items.</a:t>
            </a:r>
            <a:endParaRPr lang="en-US" sz="800" dirty="0">
              <a:solidFill>
                <a:schemeClr val="bg2">
                  <a:lumMod val="50000"/>
                </a:schemeClr>
              </a:solidFill>
              <a:ea typeface="Arial" panose="020B0604020202020204" pitchFamily="34" charset="-122"/>
              <a:cs typeface="Arial" panose="020B0604020202020204" pitchFamily="34" charset="-120"/>
            </a:endParaRPr>
          </a:p>
        </p:txBody>
      </p:sp>
      <p:sp>
        <p:nvSpPr>
          <p:cNvPr id="28" name="Shape 25"/>
          <p:cNvSpPr/>
          <p:nvPr/>
        </p:nvSpPr>
        <p:spPr>
          <a:xfrm>
            <a:off x="6949440" y="3337560"/>
            <a:ext cx="274320" cy="0"/>
          </a:xfrm>
          <a:prstGeom prst="line">
            <a:avLst/>
          </a:prstGeom>
          <a:noFill/>
          <a:ln w="19050">
            <a:solidFill>
              <a:srgbClr val="F7B500"/>
            </a:solidFill>
            <a:prstDash val="solid"/>
            <a:tailEnd type="triangle"/>
          </a:ln>
        </p:spPr>
        <p:txBody>
          <a:bodyPr/>
          <a:lstStyle/>
          <a:p>
            <a:endParaRPr lang="en-PH"/>
          </a:p>
        </p:txBody>
      </p:sp>
      <p:sp>
        <p:nvSpPr>
          <p:cNvPr id="29" name="Shape 26"/>
          <p:cNvSpPr/>
          <p:nvPr/>
        </p:nvSpPr>
        <p:spPr>
          <a:xfrm>
            <a:off x="7242048" y="1645919"/>
            <a:ext cx="1947672" cy="4059555"/>
          </a:xfrm>
          <a:prstGeom prst="roundRect">
            <a:avLst>
              <a:gd name="adj" fmla="val 3756"/>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30" name="Shape 27"/>
          <p:cNvSpPr/>
          <p:nvPr/>
        </p:nvSpPr>
        <p:spPr>
          <a:xfrm>
            <a:off x="7936992" y="1783080"/>
            <a:ext cx="539496" cy="539496"/>
          </a:xfrm>
          <a:prstGeom prst="ellipse">
            <a:avLst/>
          </a:prstGeom>
          <a:solidFill>
            <a:srgbClr val="00B050"/>
          </a:solidFill>
          <a:ln w="12700">
            <a:solidFill>
              <a:srgbClr val="00B050"/>
            </a:solidFill>
            <a:prstDash val="solid"/>
          </a:ln>
        </p:spPr>
        <p:txBody>
          <a:bodyPr/>
          <a:lstStyle/>
          <a:p>
            <a:endParaRPr lang="en-PH"/>
          </a:p>
        </p:txBody>
      </p:sp>
      <p:sp>
        <p:nvSpPr>
          <p:cNvPr id="31" name="Text 28"/>
          <p:cNvSpPr/>
          <p:nvPr/>
        </p:nvSpPr>
        <p:spPr>
          <a:xfrm>
            <a:off x="7936992" y="1900480"/>
            <a:ext cx="539496" cy="339596"/>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4</a:t>
            </a:r>
            <a:endParaRPr lang="en-US" sz="1500" dirty="0"/>
          </a:p>
        </p:txBody>
      </p:sp>
      <p:sp>
        <p:nvSpPr>
          <p:cNvPr id="32" name="Text 29"/>
          <p:cNvSpPr/>
          <p:nvPr/>
        </p:nvSpPr>
        <p:spPr>
          <a:xfrm>
            <a:off x="7443216" y="2455926"/>
            <a:ext cx="1554480" cy="256032"/>
          </a:xfrm>
          <a:prstGeom prst="rect">
            <a:avLst/>
          </a:prstGeom>
          <a:noFill/>
        </p:spPr>
        <p:txBody>
          <a:bodyPr wrap="square" lIns="0" tIns="0" rIns="0" bIns="0" rtlCol="0" anchor="ctr">
            <a:normAutofit lnSpcReduction="10000"/>
          </a:bodyPr>
          <a:lstStyle/>
          <a:p>
            <a:pPr marL="0" indent="0" algn="ctr">
              <a:buNone/>
            </a:pPr>
            <a:r>
              <a:rPr lang="en-US" sz="1720" b="1" dirty="0">
                <a:solidFill>
                  <a:srgbClr val="00B050"/>
                </a:solidFill>
                <a:cs typeface="Arial" panose="020B0604020202020204" pitchFamily="34" charset="-120"/>
              </a:rPr>
              <a:t>Settle</a:t>
            </a:r>
            <a:endParaRPr lang="en-US" sz="1720" dirty="0">
              <a:solidFill>
                <a:srgbClr val="00B050"/>
              </a:solidFill>
            </a:endParaRPr>
          </a:p>
        </p:txBody>
      </p:sp>
      <p:sp>
        <p:nvSpPr>
          <p:cNvPr id="33" name="Text 30"/>
          <p:cNvSpPr/>
          <p:nvPr/>
        </p:nvSpPr>
        <p:spPr>
          <a:xfrm>
            <a:off x="7437441" y="3165349"/>
            <a:ext cx="1536192" cy="713232"/>
          </a:xfrm>
          <a:prstGeom prst="rect">
            <a:avLst/>
          </a:prstGeom>
          <a:noFill/>
        </p:spPr>
        <p:txBody>
          <a:bodyPr wrap="square" lIns="0" tIns="0" rIns="0" bIns="0" rtlCol="0" anchor="ctr">
            <a:noAutofit/>
          </a:bodyPr>
          <a:lstStyle/>
          <a:p>
            <a:pPr lvl="0" algn="ctr"/>
            <a:r>
              <a:rPr lang="en-PH" sz="1050" dirty="0">
                <a:solidFill>
                  <a:schemeClr val="bg2">
                    <a:lumMod val="50000"/>
                  </a:schemeClr>
                </a:solidFill>
              </a:rPr>
              <a:t>Enable instant digital checkout via QR Ph, </a:t>
            </a:r>
            <a:r>
              <a:rPr lang="en-PH" sz="1050" dirty="0" err="1">
                <a:solidFill>
                  <a:schemeClr val="bg2">
                    <a:lumMod val="50000"/>
                  </a:schemeClr>
                </a:solidFill>
              </a:rPr>
              <a:t>GCash</a:t>
            </a:r>
            <a:r>
              <a:rPr lang="en-PH" sz="1050" dirty="0">
                <a:solidFill>
                  <a:schemeClr val="bg2">
                    <a:lumMod val="50000"/>
                  </a:schemeClr>
                </a:solidFill>
              </a:rPr>
              <a:t>, Maya, cards, or structured digital promissory notes compliant with RA 9439.</a:t>
            </a:r>
          </a:p>
          <a:p>
            <a:pPr algn="ctr"/>
            <a:br>
              <a:rPr lang="en-PH" sz="1050" dirty="0">
                <a:solidFill>
                  <a:schemeClr val="bg2">
                    <a:lumMod val="50000"/>
                  </a:schemeClr>
                </a:solidFill>
              </a:rPr>
            </a:br>
            <a:endParaRPr lang="en-US" sz="1050" dirty="0">
              <a:solidFill>
                <a:schemeClr val="bg2">
                  <a:lumMod val="50000"/>
                </a:schemeClr>
              </a:solidFill>
              <a:ea typeface="Arial" panose="020B0604020202020204" pitchFamily="34" charset="-122"/>
              <a:cs typeface="Arial" panose="020B0604020202020204" pitchFamily="34" charset="-120"/>
            </a:endParaRPr>
          </a:p>
        </p:txBody>
      </p:sp>
      <p:sp>
        <p:nvSpPr>
          <p:cNvPr id="34" name="Shape 31"/>
          <p:cNvSpPr/>
          <p:nvPr/>
        </p:nvSpPr>
        <p:spPr>
          <a:xfrm>
            <a:off x="9217152" y="3337560"/>
            <a:ext cx="274320" cy="0"/>
          </a:xfrm>
          <a:prstGeom prst="line">
            <a:avLst/>
          </a:prstGeom>
          <a:noFill/>
          <a:ln w="19050">
            <a:solidFill>
              <a:srgbClr val="F7B500"/>
            </a:solidFill>
            <a:prstDash val="solid"/>
            <a:tailEnd type="triangle"/>
          </a:ln>
        </p:spPr>
        <p:txBody>
          <a:bodyPr/>
          <a:lstStyle/>
          <a:p>
            <a:endParaRPr lang="en-PH"/>
          </a:p>
        </p:txBody>
      </p:sp>
      <p:sp>
        <p:nvSpPr>
          <p:cNvPr id="36" name="Shape 33"/>
          <p:cNvSpPr/>
          <p:nvPr/>
        </p:nvSpPr>
        <p:spPr>
          <a:xfrm>
            <a:off x="10204704" y="1783080"/>
            <a:ext cx="539496" cy="539496"/>
          </a:xfrm>
          <a:prstGeom prst="ellipse">
            <a:avLst/>
          </a:prstGeom>
          <a:solidFill>
            <a:srgbClr val="0036B8"/>
          </a:solidFill>
          <a:ln w="12700">
            <a:solidFill>
              <a:srgbClr val="0036B8"/>
            </a:solidFill>
            <a:prstDash val="solid"/>
          </a:ln>
        </p:spPr>
        <p:txBody>
          <a:bodyPr/>
          <a:lstStyle/>
          <a:p>
            <a:endParaRPr lang="en-PH">
              <a:solidFill>
                <a:srgbClr val="0070C0"/>
              </a:solidFill>
            </a:endParaRPr>
          </a:p>
        </p:txBody>
      </p:sp>
      <p:sp>
        <p:nvSpPr>
          <p:cNvPr id="37" name="Text 34"/>
          <p:cNvSpPr/>
          <p:nvPr/>
        </p:nvSpPr>
        <p:spPr>
          <a:xfrm>
            <a:off x="10222992" y="1849827"/>
            <a:ext cx="539496" cy="384505"/>
          </a:xfrm>
          <a:prstGeom prst="rect">
            <a:avLst/>
          </a:prstGeom>
          <a:noFill/>
        </p:spPr>
        <p:txBody>
          <a:bodyPr wrap="square" lIns="0" tIns="0" rIns="0" bIns="0" rtlCol="0" anchor="ctr">
            <a:noAutofit/>
          </a:bodyPr>
          <a:lstStyle/>
          <a:p>
            <a:pPr marL="0" indent="0" algn="ctr">
              <a:buNone/>
            </a:pPr>
            <a:r>
              <a:rPr lang="en-US" sz="1500" b="1" dirty="0">
                <a:solidFill>
                  <a:srgbClr val="FFFFFF"/>
                </a:solidFill>
                <a:ea typeface="Arial" panose="020B0604020202020204" pitchFamily="34" charset="-122"/>
                <a:cs typeface="Arial" panose="020B0604020202020204" pitchFamily="34" charset="-120"/>
              </a:rPr>
              <a:t>5</a:t>
            </a:r>
            <a:endParaRPr lang="en-US" sz="1500" dirty="0"/>
          </a:p>
        </p:txBody>
      </p:sp>
      <p:sp>
        <p:nvSpPr>
          <p:cNvPr id="38" name="Text 35"/>
          <p:cNvSpPr/>
          <p:nvPr/>
        </p:nvSpPr>
        <p:spPr>
          <a:xfrm>
            <a:off x="9720072" y="2484425"/>
            <a:ext cx="1554480" cy="256032"/>
          </a:xfrm>
          <a:prstGeom prst="rect">
            <a:avLst/>
          </a:prstGeom>
          <a:noFill/>
          <a:ln>
            <a:noFill/>
          </a:ln>
        </p:spPr>
        <p:txBody>
          <a:bodyPr wrap="square" lIns="0" tIns="0" rIns="0" bIns="0" rtlCol="0" anchor="ctr">
            <a:normAutofit lnSpcReduction="10000"/>
          </a:bodyPr>
          <a:lstStyle/>
          <a:p>
            <a:pPr marL="0" indent="0" algn="ctr">
              <a:buNone/>
            </a:pPr>
            <a:r>
              <a:rPr lang="en-US" sz="1720" b="1" dirty="0">
                <a:solidFill>
                  <a:srgbClr val="0070C0"/>
                </a:solidFill>
                <a:ea typeface="Arial" panose="020B0604020202020204" pitchFamily="34" charset="-122"/>
                <a:cs typeface="Arial" panose="020B0604020202020204" pitchFamily="34" charset="-120"/>
              </a:rPr>
              <a:t>Accelerate</a:t>
            </a:r>
            <a:endParaRPr lang="en-US" sz="1720" dirty="0">
              <a:solidFill>
                <a:srgbClr val="0070C0"/>
              </a:solidFill>
            </a:endParaRPr>
          </a:p>
        </p:txBody>
      </p:sp>
      <p:sp>
        <p:nvSpPr>
          <p:cNvPr id="39" name="Text 36"/>
          <p:cNvSpPr/>
          <p:nvPr/>
        </p:nvSpPr>
        <p:spPr>
          <a:xfrm>
            <a:off x="9706356" y="2988613"/>
            <a:ext cx="1536192" cy="713232"/>
          </a:xfrm>
          <a:prstGeom prst="rect">
            <a:avLst/>
          </a:prstGeom>
          <a:noFill/>
        </p:spPr>
        <p:txBody>
          <a:bodyPr wrap="square" lIns="0" tIns="0" rIns="0" bIns="0" rtlCol="0" anchor="ctr">
            <a:noAutofit/>
          </a:bodyPr>
          <a:lstStyle/>
          <a:p>
            <a:pPr algn="ctr"/>
            <a:r>
              <a:rPr lang="en-PH" sz="1050" dirty="0">
                <a:solidFill>
                  <a:schemeClr val="bg2">
                    <a:lumMod val="50000"/>
                  </a:schemeClr>
                </a:solidFill>
              </a:rPr>
              <a:t>Automatically dispatch a scannable digital discharge gate pass upon payment, freeing up hospital beds in under 45 minutes.</a:t>
            </a:r>
            <a:endParaRPr lang="en-US" sz="800" dirty="0">
              <a:solidFill>
                <a:schemeClr val="bg2">
                  <a:lumMod val="50000"/>
                </a:schemeClr>
              </a:solidFill>
              <a:ea typeface="Arial" panose="020B0604020202020204" pitchFamily="34" charset="-122"/>
              <a:cs typeface="Arial" panose="020B0604020202020204" pitchFamily="34" charset="-120"/>
            </a:endParaRPr>
          </a:p>
        </p:txBody>
      </p:sp>
      <p:sp>
        <p:nvSpPr>
          <p:cNvPr id="41" name="Text 38"/>
          <p:cNvSpPr/>
          <p:nvPr/>
        </p:nvSpPr>
        <p:spPr>
          <a:xfrm>
            <a:off x="2632710" y="5846979"/>
            <a:ext cx="6926580" cy="357070"/>
          </a:xfrm>
          <a:prstGeom prst="rect">
            <a:avLst/>
          </a:prstGeom>
          <a:noFill/>
        </p:spPr>
        <p:txBody>
          <a:bodyPr wrap="square" lIns="0" tIns="0" rIns="0" bIns="0" rtlCol="0" anchor="ctr">
            <a:normAutofit fontScale="92500"/>
          </a:bodyPr>
          <a:lstStyle/>
          <a:p>
            <a:pPr lvl="0" algn="ctr"/>
            <a:r>
              <a:rPr lang="en-PH" sz="1400" b="1" dirty="0">
                <a:solidFill>
                  <a:srgbClr val="0037B8"/>
                </a:solidFill>
              </a:rPr>
              <a:t>Continuous intra-care reconciliation eliminates the end-of-stay administrative standoff.</a:t>
            </a:r>
            <a:endParaRPr lang="en-US" sz="1050" b="1" dirty="0">
              <a:solidFill>
                <a:srgbClr val="0037B8"/>
              </a:solidFill>
            </a:endParaRPr>
          </a:p>
        </p:txBody>
      </p:sp>
      <p:sp>
        <p:nvSpPr>
          <p:cNvPr id="43" name="Text 40"/>
          <p:cNvSpPr/>
          <p:nvPr/>
        </p:nvSpPr>
        <p:spPr>
          <a:xfrm>
            <a:off x="3671316" y="6122670"/>
            <a:ext cx="4444745" cy="438912"/>
          </a:xfrm>
          <a:prstGeom prst="rect">
            <a:avLst/>
          </a:prstGeom>
          <a:noFill/>
        </p:spPr>
        <p:txBody>
          <a:bodyPr wrap="square" lIns="0" tIns="0" rIns="0" bIns="0" rtlCol="0" anchor="ctr">
            <a:noAutofit/>
          </a:bodyPr>
          <a:lstStyle/>
          <a:p>
            <a:pPr algn="ctr"/>
            <a:r>
              <a:rPr lang="en-PH" sz="1200" b="1" dirty="0">
                <a:solidFill>
                  <a:schemeClr val="tx1">
                    <a:lumMod val="85000"/>
                    <a:lumOff val="15000"/>
                  </a:schemeClr>
                </a:solidFill>
              </a:rPr>
              <a:t>Not just a billing app: one closed financial loop connecting patient transparency to hospital bed turnover.</a:t>
            </a:r>
            <a:endParaRPr lang="en-US" sz="900" dirty="0">
              <a:solidFill>
                <a:schemeClr val="tx1">
                  <a:lumMod val="85000"/>
                  <a:lumOff val="15000"/>
                </a:schemeClr>
              </a:solidFill>
            </a:endParaRPr>
          </a:p>
        </p:txBody>
      </p:sp>
      <p:pic>
        <p:nvPicPr>
          <p:cNvPr id="51" name="Picture 50">
            <a:extLst>
              <a:ext uri="{FF2B5EF4-FFF2-40B4-BE49-F238E27FC236}">
                <a16:creationId xmlns:a16="http://schemas.microsoft.com/office/drawing/2014/main" id="{429B4DE7-DE22-D4B8-7F0B-20C53D6C421F}"/>
              </a:ext>
            </a:extLst>
          </p:cNvPr>
          <p:cNvPicPr>
            <a:picLocks noChangeAspect="1"/>
          </p:cNvPicPr>
          <p:nvPr/>
        </p:nvPicPr>
        <p:blipFill>
          <a:blip r:embed="rId4"/>
          <a:stretch>
            <a:fillRect/>
          </a:stretch>
        </p:blipFill>
        <p:spPr>
          <a:xfrm>
            <a:off x="2834688" y="3893125"/>
            <a:ext cx="1673256" cy="1673256"/>
          </a:xfrm>
          <a:prstGeom prst="rect">
            <a:avLst/>
          </a:prstGeom>
        </p:spPr>
      </p:pic>
      <p:pic>
        <p:nvPicPr>
          <p:cNvPr id="54" name="Picture 53">
            <a:extLst>
              <a:ext uri="{FF2B5EF4-FFF2-40B4-BE49-F238E27FC236}">
                <a16:creationId xmlns:a16="http://schemas.microsoft.com/office/drawing/2014/main" id="{C30437FA-A094-5D56-46F4-72DE6AA18867}"/>
              </a:ext>
            </a:extLst>
          </p:cNvPr>
          <p:cNvPicPr>
            <a:picLocks noChangeAspect="1"/>
          </p:cNvPicPr>
          <p:nvPr/>
        </p:nvPicPr>
        <p:blipFill>
          <a:blip r:embed="rId5"/>
          <a:stretch>
            <a:fillRect/>
          </a:stretch>
        </p:blipFill>
        <p:spPr>
          <a:xfrm>
            <a:off x="5098120" y="3959692"/>
            <a:ext cx="1667666" cy="1667666"/>
          </a:xfrm>
          <a:prstGeom prst="rect">
            <a:avLst/>
          </a:prstGeom>
        </p:spPr>
      </p:pic>
      <p:pic>
        <p:nvPicPr>
          <p:cNvPr id="55" name="Picture 54">
            <a:extLst>
              <a:ext uri="{FF2B5EF4-FFF2-40B4-BE49-F238E27FC236}">
                <a16:creationId xmlns:a16="http://schemas.microsoft.com/office/drawing/2014/main" id="{265E1BF8-7973-35F5-5AE6-B23E9131F3C3}"/>
              </a:ext>
            </a:extLst>
          </p:cNvPr>
          <p:cNvPicPr>
            <a:picLocks noChangeAspect="1"/>
          </p:cNvPicPr>
          <p:nvPr/>
        </p:nvPicPr>
        <p:blipFill>
          <a:blip r:embed="rId6"/>
          <a:stretch>
            <a:fillRect/>
          </a:stretch>
        </p:blipFill>
        <p:spPr>
          <a:xfrm>
            <a:off x="7242048" y="3937521"/>
            <a:ext cx="1788146" cy="1788146"/>
          </a:xfrm>
          <a:prstGeom prst="rect">
            <a:avLst/>
          </a:prstGeom>
        </p:spPr>
      </p:pic>
      <p:pic>
        <p:nvPicPr>
          <p:cNvPr id="56" name="Picture 55">
            <a:extLst>
              <a:ext uri="{FF2B5EF4-FFF2-40B4-BE49-F238E27FC236}">
                <a16:creationId xmlns:a16="http://schemas.microsoft.com/office/drawing/2014/main" id="{AF224922-7EA1-C36C-4B79-A3BC54A298FC}"/>
              </a:ext>
            </a:extLst>
          </p:cNvPr>
          <p:cNvPicPr>
            <a:picLocks noChangeAspect="1"/>
          </p:cNvPicPr>
          <p:nvPr/>
        </p:nvPicPr>
        <p:blipFill>
          <a:blip r:embed="rId7"/>
          <a:stretch>
            <a:fillRect/>
          </a:stretch>
        </p:blipFill>
        <p:spPr>
          <a:xfrm>
            <a:off x="9415074" y="3708234"/>
            <a:ext cx="2043038" cy="2043038"/>
          </a:xfrm>
          <a:prstGeom prst="rect">
            <a:avLst/>
          </a:prstGeom>
        </p:spPr>
      </p:pic>
      <p:pic>
        <p:nvPicPr>
          <p:cNvPr id="57" name="Picture 56">
            <a:extLst>
              <a:ext uri="{FF2B5EF4-FFF2-40B4-BE49-F238E27FC236}">
                <a16:creationId xmlns:a16="http://schemas.microsoft.com/office/drawing/2014/main" id="{B8BF3BCA-CC90-BD50-6456-2109FC39CE32}"/>
              </a:ext>
            </a:extLst>
          </p:cNvPr>
          <p:cNvPicPr>
            <a:picLocks noChangeAspect="1"/>
          </p:cNvPicPr>
          <p:nvPr/>
        </p:nvPicPr>
        <p:blipFill>
          <a:blip r:embed="rId8"/>
          <a:stretch>
            <a:fillRect/>
          </a:stretch>
        </p:blipFill>
        <p:spPr>
          <a:xfrm>
            <a:off x="328088" y="3610384"/>
            <a:ext cx="2142717" cy="214271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p:cNvGrpSpPr/>
        <p:nvPr/>
      </p:nvGrpSpPr>
      <p:grpSpPr>
        <a:xfrm>
          <a:off x="0" y="0"/>
          <a:ext cx="0" cy="0"/>
          <a:chOff x="0" y="0"/>
          <a:chExt cx="0" cy="0"/>
        </a:xfrm>
      </p:grpSpPr>
      <p:sp>
        <p:nvSpPr>
          <p:cNvPr id="3" name="Text 0"/>
          <p:cNvSpPr/>
          <p:nvPr/>
        </p:nvSpPr>
        <p:spPr>
          <a:xfrm>
            <a:off x="1572768" y="36576"/>
            <a:ext cx="6035040" cy="292608"/>
          </a:xfrm>
          <a:prstGeom prst="rect">
            <a:avLst/>
          </a:prstGeom>
          <a:noFill/>
        </p:spPr>
        <p:txBody>
          <a:bodyPr wrap="square" lIns="0" tIns="0" rIns="0" bIns="0" rtlCol="0" anchor="ctr">
            <a:normAutofit fontScale="92500" lnSpcReduction="10000"/>
          </a:bodyPr>
          <a:lstStyle/>
          <a:p>
            <a:pPr marL="0" indent="0">
              <a:buNone/>
            </a:pPr>
            <a:r>
              <a:rPr lang="en-US" sz="2250" b="1" dirty="0">
                <a:solidFill>
                  <a:srgbClr val="082B7F"/>
                </a:solidFill>
                <a:ea typeface="Arial" panose="020B0604020202020204" pitchFamily="34" charset="-122"/>
                <a:cs typeface="Arial" panose="020B0604020202020204" pitchFamily="34" charset="-120"/>
              </a:rPr>
              <a:t>Prototype Demonstration</a:t>
            </a:r>
            <a:endParaRPr lang="en-US" sz="2250" dirty="0"/>
          </a:p>
        </p:txBody>
      </p:sp>
      <p:sp>
        <p:nvSpPr>
          <p:cNvPr id="4" name="Text 1"/>
          <p:cNvSpPr/>
          <p:nvPr/>
        </p:nvSpPr>
        <p:spPr>
          <a:xfrm>
            <a:off x="1581912" y="329184"/>
            <a:ext cx="7269480" cy="182880"/>
          </a:xfrm>
          <a:prstGeom prst="rect">
            <a:avLst/>
          </a:prstGeom>
          <a:noFill/>
        </p:spPr>
        <p:txBody>
          <a:bodyPr wrap="square" lIns="0" tIns="0" rIns="0" bIns="0" rtlCol="0" anchor="ctr">
            <a:normAutofit/>
          </a:bodyPr>
          <a:lstStyle/>
          <a:p>
            <a:pPr marL="0" indent="0">
              <a:buNone/>
            </a:pPr>
            <a:r>
              <a:rPr lang="en-US" sz="850" dirty="0">
                <a:solidFill>
                  <a:srgbClr val="5E6F8A"/>
                </a:solidFill>
                <a:ea typeface="Arial" panose="020B0604020202020204" pitchFamily="34" charset="-122"/>
                <a:cs typeface="Arial" panose="020B0604020202020204" pitchFamily="34" charset="-120"/>
              </a:rPr>
              <a:t>One commuter journey to simulated agency insight.</a:t>
            </a:r>
            <a:endParaRPr lang="en-US" sz="850" dirty="0"/>
          </a:p>
        </p:txBody>
      </p:sp>
      <p:sp>
        <p:nvSpPr>
          <p:cNvPr id="5" name="Shape 2"/>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p>
        </p:txBody>
      </p:sp>
      <p:sp>
        <p:nvSpPr>
          <p:cNvPr id="6" name="Shape 3"/>
          <p:cNvSpPr/>
          <p:nvPr/>
        </p:nvSpPr>
        <p:spPr>
          <a:xfrm>
            <a:off x="7159752" y="630936"/>
            <a:ext cx="685800" cy="22860"/>
          </a:xfrm>
          <a:prstGeom prst="rect">
            <a:avLst/>
          </a:prstGeom>
          <a:solidFill>
            <a:srgbClr val="F7B500"/>
          </a:solidFill>
          <a:ln w="12700">
            <a:solidFill>
              <a:srgbClr val="F7B500"/>
            </a:solidFill>
            <a:prstDash val="solid"/>
          </a:ln>
        </p:spPr>
        <p:txBody>
          <a:bodyPr/>
          <a:lstStyle/>
          <a:p>
            <a:endParaRPr lang="en-PH"/>
          </a:p>
        </p:txBody>
      </p:sp>
      <p:sp>
        <p:nvSpPr>
          <p:cNvPr id="7" name="Text 4"/>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ea typeface="Arial" panose="020B0604020202020204" pitchFamily="34" charset="-122"/>
                <a:cs typeface="Arial" panose="020B0604020202020204" pitchFamily="34" charset="-120"/>
              </a:rPr>
              <a:t>6/10</a:t>
            </a:r>
            <a:endParaRPr lang="en-US" sz="950" dirty="0"/>
          </a:p>
        </p:txBody>
      </p:sp>
      <p:sp>
        <p:nvSpPr>
          <p:cNvPr id="8" name="Text 5"/>
          <p:cNvSpPr/>
          <p:nvPr/>
        </p:nvSpPr>
        <p:spPr>
          <a:xfrm>
            <a:off x="210312" y="6601968"/>
            <a:ext cx="5120640" cy="118872"/>
          </a:xfrm>
          <a:prstGeom prst="rect">
            <a:avLst/>
          </a:prstGeom>
          <a:noFill/>
        </p:spPr>
        <p:txBody>
          <a:bodyPr wrap="square" lIns="0" tIns="0" rIns="0" bIns="0" rtlCol="0" anchor="ctr">
            <a:normAutofit/>
          </a:bodyPr>
          <a:lstStyle/>
          <a:p>
            <a:pPr marL="0" indent="0">
              <a:buNone/>
            </a:pPr>
            <a:r>
              <a:rPr lang="en-US" sz="560" dirty="0">
                <a:solidFill>
                  <a:srgbClr val="5E6F8A"/>
                </a:solidFill>
                <a:ea typeface="Arial" panose="020B0604020202020204" pitchFamily="34" charset="-122"/>
                <a:cs typeface="Arial" panose="020B0604020202020204" pitchFamily="34" charset="-120"/>
              </a:rPr>
              <a:t>LakbayPoints • MMITS Bagong Gawi, Bagong Galaw Challenge</a:t>
            </a:r>
            <a:endParaRPr lang="en-US" sz="560" dirty="0"/>
          </a:p>
        </p:txBody>
      </p:sp>
      <p:sp>
        <p:nvSpPr>
          <p:cNvPr id="9" name="Text 6"/>
          <p:cNvSpPr/>
          <p:nvPr/>
        </p:nvSpPr>
        <p:spPr>
          <a:xfrm>
            <a:off x="11484864" y="6537960"/>
            <a:ext cx="228600" cy="109728"/>
          </a:xfrm>
          <a:prstGeom prst="rect">
            <a:avLst/>
          </a:prstGeom>
          <a:noFill/>
        </p:spPr>
        <p:txBody>
          <a:bodyPr wrap="square" lIns="0" tIns="0" rIns="0" bIns="0" rtlCol="0" anchor="ctr">
            <a:normAutofit/>
          </a:bodyPr>
          <a:lstStyle/>
          <a:p>
            <a:pPr marL="0" indent="0" algn="r">
              <a:buNone/>
            </a:pPr>
            <a:r>
              <a:rPr lang="en-US" sz="550" dirty="0">
                <a:solidFill>
                  <a:srgbClr val="8492A6"/>
                </a:solidFill>
                <a:ea typeface="Arial" panose="020B0604020202020204" pitchFamily="34" charset="-122"/>
                <a:cs typeface="Arial" panose="020B0604020202020204" pitchFamily="34" charset="-120"/>
              </a:rPr>
              <a:t>6</a:t>
            </a:r>
            <a:endParaRPr lang="en-US" sz="550" dirty="0"/>
          </a:p>
        </p:txBody>
      </p:sp>
      <p:sp>
        <p:nvSpPr>
          <p:cNvPr id="12" name="Text 8"/>
          <p:cNvSpPr/>
          <p:nvPr/>
        </p:nvSpPr>
        <p:spPr>
          <a:xfrm>
            <a:off x="877824" y="1261872"/>
            <a:ext cx="2231136" cy="91440"/>
          </a:xfrm>
          <a:prstGeom prst="rect">
            <a:avLst/>
          </a:prstGeom>
          <a:noFill/>
        </p:spPr>
        <p:txBody>
          <a:bodyPr wrap="square" lIns="0" tIns="0" rIns="0" bIns="0" rtlCol="0" anchor="ctr">
            <a:normAutofit fontScale="92500" lnSpcReduction="20000"/>
          </a:bodyPr>
          <a:lstStyle/>
          <a:p>
            <a:pPr marL="0" indent="0" algn="ctr">
              <a:buNone/>
            </a:pPr>
            <a:r>
              <a:rPr lang="en-US" sz="760" b="1" dirty="0">
                <a:solidFill>
                  <a:srgbClr val="FFFFFF"/>
                </a:solidFill>
                <a:ea typeface="Arial" panose="020B0604020202020204" pitchFamily="34" charset="-122"/>
                <a:cs typeface="Arial" panose="020B0604020202020204" pitchFamily="34" charset="-120"/>
              </a:rPr>
              <a:t>Prototype • simulated data</a:t>
            </a:r>
            <a:endParaRPr lang="en-US" sz="760" dirty="0"/>
          </a:p>
        </p:txBody>
      </p:sp>
      <p:sp>
        <p:nvSpPr>
          <p:cNvPr id="13" name="Shape 9"/>
          <p:cNvSpPr/>
          <p:nvPr/>
        </p:nvSpPr>
        <p:spPr>
          <a:xfrm>
            <a:off x="2286000" y="5989320"/>
            <a:ext cx="7772400" cy="310896"/>
          </a:xfrm>
          <a:prstGeom prst="roundRect">
            <a:avLst>
              <a:gd name="adj" fmla="val 14706"/>
            </a:avLst>
          </a:prstGeom>
          <a:solidFill>
            <a:srgbClr val="FFFFFF">
              <a:alpha val="95000"/>
            </a:srgbClr>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14" name="Text 10"/>
          <p:cNvSpPr/>
          <p:nvPr/>
        </p:nvSpPr>
        <p:spPr>
          <a:xfrm>
            <a:off x="2523744" y="6089904"/>
            <a:ext cx="7269480" cy="91440"/>
          </a:xfrm>
          <a:prstGeom prst="rect">
            <a:avLst/>
          </a:prstGeom>
          <a:noFill/>
        </p:spPr>
        <p:txBody>
          <a:bodyPr wrap="square" lIns="0" tIns="0" rIns="0" bIns="0" rtlCol="0" anchor="ctr">
            <a:normAutofit fontScale="92500" lnSpcReduction="20000"/>
          </a:bodyPr>
          <a:lstStyle/>
          <a:p>
            <a:pPr marL="0" indent="0" algn="ctr">
              <a:buNone/>
            </a:pPr>
            <a:r>
              <a:rPr lang="en-US" sz="710" b="1" dirty="0">
                <a:solidFill>
                  <a:srgbClr val="082B7F"/>
                </a:solidFill>
                <a:ea typeface="Arial" panose="020B0604020202020204" pitchFamily="34" charset="-122"/>
                <a:cs typeface="Arial" panose="020B0604020202020204" pitchFamily="34" charset="-120"/>
              </a:rPr>
              <a:t>Plan route → Check journey → Reward eligible trip → Report barrier → View simulated agency insight</a:t>
            </a:r>
            <a:endParaRPr lang="en-US" sz="7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7DBC1-C678-5F79-B0BD-396DC0C04A2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7675129-D300-F341-227E-6276FB676F25}"/>
              </a:ext>
            </a:extLst>
          </p:cNvPr>
          <p:cNvSpPr/>
          <p:nvPr/>
        </p:nvSpPr>
        <p:spPr>
          <a:xfrm>
            <a:off x="1479139" y="257669"/>
            <a:ext cx="6035040" cy="292608"/>
          </a:xfrm>
          <a:prstGeom prst="rect">
            <a:avLst/>
          </a:prstGeom>
          <a:noFill/>
        </p:spPr>
        <p:txBody>
          <a:bodyPr wrap="square" lIns="0" tIns="0" rIns="0" bIns="0" rtlCol="0" anchor="ctr">
            <a:normAutofit fontScale="90000" lnSpcReduction="10000"/>
          </a:bodyPr>
          <a:lstStyle/>
          <a:p>
            <a:pPr marL="0" indent="0">
              <a:buNone/>
            </a:pPr>
            <a:r>
              <a:rPr lang="en-US" sz="2250" b="1" dirty="0">
                <a:solidFill>
                  <a:srgbClr val="082B7F"/>
                </a:solidFill>
                <a:ea typeface="Arial" panose="020B0604020202020204" pitchFamily="34" charset="-122"/>
                <a:cs typeface="Arial" panose="020B0604020202020204" pitchFamily="34" charset="-120"/>
              </a:rPr>
              <a:t>Impact &amp; Expected Benefits</a:t>
            </a:r>
            <a:endParaRPr lang="en-US" sz="2250" dirty="0"/>
          </a:p>
        </p:txBody>
      </p:sp>
      <p:sp>
        <p:nvSpPr>
          <p:cNvPr id="5" name="Shape 2">
            <a:extLst>
              <a:ext uri="{FF2B5EF4-FFF2-40B4-BE49-F238E27FC236}">
                <a16:creationId xmlns:a16="http://schemas.microsoft.com/office/drawing/2014/main" id="{F6A9A391-0D84-5E61-541E-1B3D56C55E19}"/>
              </a:ext>
            </a:extLst>
          </p:cNvPr>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p>
        </p:txBody>
      </p:sp>
      <p:sp>
        <p:nvSpPr>
          <p:cNvPr id="7" name="Text 4">
            <a:extLst>
              <a:ext uri="{FF2B5EF4-FFF2-40B4-BE49-F238E27FC236}">
                <a16:creationId xmlns:a16="http://schemas.microsoft.com/office/drawing/2014/main" id="{CCF2FE81-12AD-201D-B85C-021558182DE1}"/>
              </a:ext>
            </a:extLst>
          </p:cNvPr>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ea typeface="Arial" panose="020B0604020202020204" pitchFamily="34" charset="-122"/>
                <a:cs typeface="Arial" panose="020B0604020202020204" pitchFamily="34" charset="-120"/>
              </a:rPr>
              <a:t>8/10</a:t>
            </a:r>
            <a:endParaRPr lang="en-US" sz="950" dirty="0"/>
          </a:p>
        </p:txBody>
      </p:sp>
      <p:sp>
        <p:nvSpPr>
          <p:cNvPr id="8" name="Text 5">
            <a:extLst>
              <a:ext uri="{FF2B5EF4-FFF2-40B4-BE49-F238E27FC236}">
                <a16:creationId xmlns:a16="http://schemas.microsoft.com/office/drawing/2014/main" id="{12D4E8AA-C932-CCEA-CE55-D8AB8BA2B3E0}"/>
              </a:ext>
            </a:extLst>
          </p:cNvPr>
          <p:cNvSpPr/>
          <p:nvPr/>
        </p:nvSpPr>
        <p:spPr>
          <a:xfrm>
            <a:off x="210312" y="6601968"/>
            <a:ext cx="5120640" cy="118872"/>
          </a:xfrm>
          <a:prstGeom prst="rect">
            <a:avLst/>
          </a:prstGeom>
          <a:noFill/>
        </p:spPr>
        <p:txBody>
          <a:bodyPr wrap="square" lIns="0" tIns="0" rIns="0" bIns="0" rtlCol="0" anchor="ctr">
            <a:normAutofit/>
          </a:bodyPr>
          <a:lstStyle/>
          <a:p>
            <a:pPr marL="0" indent="0">
              <a:buNone/>
            </a:pPr>
            <a:r>
              <a:rPr lang="en-US" sz="560" dirty="0">
                <a:solidFill>
                  <a:srgbClr val="5E6F8A"/>
                </a:solidFill>
                <a:ea typeface="Arial" panose="020B0604020202020204" pitchFamily="34" charset="-122"/>
                <a:cs typeface="Arial" panose="020B0604020202020204" pitchFamily="34" charset="-120"/>
              </a:rPr>
              <a:t>LakbayPoints • MMITS Bagong Gawi, Bagong Galaw Challenge</a:t>
            </a:r>
            <a:endParaRPr lang="en-US" sz="560" dirty="0"/>
          </a:p>
        </p:txBody>
      </p:sp>
      <p:sp>
        <p:nvSpPr>
          <p:cNvPr id="9" name="Text 6">
            <a:extLst>
              <a:ext uri="{FF2B5EF4-FFF2-40B4-BE49-F238E27FC236}">
                <a16:creationId xmlns:a16="http://schemas.microsoft.com/office/drawing/2014/main" id="{BA4FD333-AAEF-BE6F-2CA6-6F1697B18366}"/>
              </a:ext>
            </a:extLst>
          </p:cNvPr>
          <p:cNvSpPr/>
          <p:nvPr/>
        </p:nvSpPr>
        <p:spPr>
          <a:xfrm>
            <a:off x="11484864" y="6537960"/>
            <a:ext cx="228600" cy="109728"/>
          </a:xfrm>
          <a:prstGeom prst="rect">
            <a:avLst/>
          </a:prstGeom>
          <a:noFill/>
        </p:spPr>
        <p:txBody>
          <a:bodyPr wrap="square" lIns="0" tIns="0" rIns="0" bIns="0" rtlCol="0" anchor="ctr">
            <a:normAutofit/>
          </a:bodyPr>
          <a:lstStyle/>
          <a:p>
            <a:pPr marL="0" indent="0" algn="r">
              <a:buNone/>
            </a:pPr>
            <a:r>
              <a:rPr lang="en-US" sz="550" dirty="0">
                <a:solidFill>
                  <a:srgbClr val="8492A6"/>
                </a:solidFill>
                <a:ea typeface="Arial" panose="020B0604020202020204" pitchFamily="34" charset="-122"/>
                <a:cs typeface="Arial" panose="020B0604020202020204" pitchFamily="34" charset="-120"/>
              </a:rPr>
              <a:t>8</a:t>
            </a:r>
            <a:endParaRPr lang="en-US" sz="550" dirty="0"/>
          </a:p>
        </p:txBody>
      </p:sp>
      <p:sp>
        <p:nvSpPr>
          <p:cNvPr id="10" name="Shape 7">
            <a:extLst>
              <a:ext uri="{FF2B5EF4-FFF2-40B4-BE49-F238E27FC236}">
                <a16:creationId xmlns:a16="http://schemas.microsoft.com/office/drawing/2014/main" id="{1E0A551A-66E1-CB5A-60E0-E970FA91F32C}"/>
              </a:ext>
            </a:extLst>
          </p:cNvPr>
          <p:cNvSpPr/>
          <p:nvPr/>
        </p:nvSpPr>
        <p:spPr>
          <a:xfrm>
            <a:off x="420369" y="1122680"/>
            <a:ext cx="6706743" cy="2534285"/>
          </a:xfrm>
          <a:prstGeom prst="roundRect">
            <a:avLst>
              <a:gd name="adj" fmla="val 2312"/>
            </a:avLst>
          </a:prstGeom>
          <a:solidFill>
            <a:srgbClr val="EEF4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11" name="Text 8">
            <a:extLst>
              <a:ext uri="{FF2B5EF4-FFF2-40B4-BE49-F238E27FC236}">
                <a16:creationId xmlns:a16="http://schemas.microsoft.com/office/drawing/2014/main" id="{E13067BA-2F8D-4531-0235-E868C4B4ACDA}"/>
              </a:ext>
            </a:extLst>
          </p:cNvPr>
          <p:cNvSpPr/>
          <p:nvPr/>
        </p:nvSpPr>
        <p:spPr>
          <a:xfrm>
            <a:off x="513855" y="1401254"/>
            <a:ext cx="5044059" cy="384048"/>
          </a:xfrm>
          <a:prstGeom prst="rect">
            <a:avLst/>
          </a:prstGeom>
          <a:noFill/>
        </p:spPr>
        <p:txBody>
          <a:bodyPr wrap="square" lIns="0" tIns="0" rIns="0" bIns="0" rtlCol="0" anchor="ctr">
            <a:noAutofit/>
          </a:bodyPr>
          <a:lstStyle/>
          <a:p>
            <a:pPr marL="0" indent="0" algn="ctr">
              <a:buNone/>
            </a:pPr>
            <a:r>
              <a:rPr lang="en-US" sz="2800" b="1" dirty="0">
                <a:solidFill>
                  <a:srgbClr val="082B7F"/>
                </a:solidFill>
                <a:ea typeface="Arial" panose="020B0604020202020204" pitchFamily="34" charset="-122"/>
                <a:cs typeface="Arial" panose="020B0604020202020204" pitchFamily="34" charset="-120"/>
              </a:rPr>
              <a:t>PhilHealth and HMO Holders</a:t>
            </a:r>
          </a:p>
        </p:txBody>
      </p:sp>
      <p:sp>
        <p:nvSpPr>
          <p:cNvPr id="12" name="Text 9">
            <a:extLst>
              <a:ext uri="{FF2B5EF4-FFF2-40B4-BE49-F238E27FC236}">
                <a16:creationId xmlns:a16="http://schemas.microsoft.com/office/drawing/2014/main" id="{D16C2DD1-B3DE-9A93-4A56-2E867A09ECBE}"/>
              </a:ext>
            </a:extLst>
          </p:cNvPr>
          <p:cNvSpPr/>
          <p:nvPr/>
        </p:nvSpPr>
        <p:spPr>
          <a:xfrm>
            <a:off x="874395" y="2071370"/>
            <a:ext cx="3718560" cy="494030"/>
          </a:xfrm>
          <a:prstGeom prst="rect">
            <a:avLst/>
          </a:prstGeom>
          <a:noFill/>
        </p:spPr>
        <p:txBody>
          <a:bodyPr wrap="square" lIns="0" tIns="0" rIns="0" bIns="0" rtlCol="0" anchor="ctr">
            <a:noAutofit/>
          </a:bodyPr>
          <a:lstStyle/>
          <a:p>
            <a:pPr algn="ctr"/>
            <a:r>
              <a:rPr lang="en-PH" sz="1600" b="1" i="1" dirty="0"/>
              <a:t>How much do I actually owe, what did my insurance cover, and why?</a:t>
            </a:r>
            <a:endParaRPr lang="en-US" sz="1600" b="1" i="1" dirty="0">
              <a:solidFill>
                <a:srgbClr val="14213D"/>
              </a:solidFill>
              <a:ea typeface="Arial" panose="020B0604020202020204" pitchFamily="34" charset="-122"/>
              <a:cs typeface="Arial" panose="020B0604020202020204" pitchFamily="34" charset="-120"/>
            </a:endParaRPr>
          </a:p>
        </p:txBody>
      </p:sp>
      <p:sp>
        <p:nvSpPr>
          <p:cNvPr id="14" name="Text 11">
            <a:extLst>
              <a:ext uri="{FF2B5EF4-FFF2-40B4-BE49-F238E27FC236}">
                <a16:creationId xmlns:a16="http://schemas.microsoft.com/office/drawing/2014/main" id="{62302B2E-7DD0-666C-853F-E6D898201C17}"/>
              </a:ext>
            </a:extLst>
          </p:cNvPr>
          <p:cNvSpPr/>
          <p:nvPr/>
        </p:nvSpPr>
        <p:spPr>
          <a:xfrm>
            <a:off x="808355" y="2650969"/>
            <a:ext cx="4170385" cy="594360"/>
          </a:xfrm>
          <a:prstGeom prst="rect">
            <a:avLst/>
          </a:prstGeom>
          <a:noFill/>
        </p:spPr>
        <p:txBody>
          <a:bodyPr wrap="square" lIns="0" tIns="0" rIns="0" bIns="0" rtlCol="0" anchor="ctr">
            <a:normAutofit fontScale="62500" lnSpcReduction="20000"/>
          </a:bodyPr>
          <a:lstStyle/>
          <a:p>
            <a:pPr algn="ctr"/>
            <a:r>
              <a:rPr lang="en-PH" dirty="0"/>
              <a:t>Real-time itemized running bill, plain-language translation of cryptic medical supplies, guaranteed Senior/PWD statutory discounts, and 1-click </a:t>
            </a:r>
            <a:r>
              <a:rPr lang="en-PH" dirty="0" err="1"/>
              <a:t>GCash</a:t>
            </a:r>
            <a:r>
              <a:rPr lang="en-PH" dirty="0"/>
              <a:t>/QR Ph digital checkout.</a:t>
            </a:r>
            <a:endParaRPr lang="en-US" sz="1000" dirty="0">
              <a:solidFill>
                <a:srgbClr val="5E6F8A"/>
              </a:solidFill>
              <a:ea typeface="Arial" panose="020B0604020202020204" pitchFamily="34" charset="-122"/>
              <a:cs typeface="Arial" panose="020B0604020202020204" pitchFamily="34" charset="-120"/>
            </a:endParaRPr>
          </a:p>
        </p:txBody>
      </p:sp>
      <p:sp>
        <p:nvSpPr>
          <p:cNvPr id="15" name="Text 12">
            <a:extLst>
              <a:ext uri="{FF2B5EF4-FFF2-40B4-BE49-F238E27FC236}">
                <a16:creationId xmlns:a16="http://schemas.microsoft.com/office/drawing/2014/main" id="{59DEBAC2-3D89-0C29-4108-3CC9EF26D03B}"/>
              </a:ext>
            </a:extLst>
          </p:cNvPr>
          <p:cNvSpPr/>
          <p:nvPr/>
        </p:nvSpPr>
        <p:spPr>
          <a:xfrm>
            <a:off x="1125474" y="3305810"/>
            <a:ext cx="3281426" cy="341630"/>
          </a:xfrm>
          <a:prstGeom prst="rect">
            <a:avLst/>
          </a:prstGeom>
          <a:noFill/>
        </p:spPr>
        <p:txBody>
          <a:bodyPr wrap="square" lIns="0" tIns="0" rIns="0" bIns="0" rtlCol="0" anchor="ctr">
            <a:noAutofit/>
          </a:bodyPr>
          <a:lstStyle/>
          <a:p>
            <a:pPr algn="ctr"/>
            <a:r>
              <a:rPr lang="en-PH" sz="900" b="1" dirty="0">
                <a:solidFill>
                  <a:srgbClr val="0037B8"/>
                </a:solidFill>
              </a:rPr>
              <a:t>Discharge velocity • Bill transparency • Zero bill shock</a:t>
            </a:r>
            <a:endParaRPr lang="en-US" sz="300" b="1" dirty="0">
              <a:solidFill>
                <a:srgbClr val="0037B8"/>
              </a:solidFill>
              <a:ea typeface="Arial" panose="020B0604020202020204" pitchFamily="34" charset="-122"/>
              <a:cs typeface="Arial" panose="020B0604020202020204" pitchFamily="34" charset="-120"/>
            </a:endParaRPr>
          </a:p>
        </p:txBody>
      </p:sp>
      <p:sp>
        <p:nvSpPr>
          <p:cNvPr id="22" name="Shape 19">
            <a:extLst>
              <a:ext uri="{FF2B5EF4-FFF2-40B4-BE49-F238E27FC236}">
                <a16:creationId xmlns:a16="http://schemas.microsoft.com/office/drawing/2014/main" id="{72D22B68-853A-DF0B-9CBE-3BA5FFA416F0}"/>
              </a:ext>
            </a:extLst>
          </p:cNvPr>
          <p:cNvSpPr/>
          <p:nvPr/>
        </p:nvSpPr>
        <p:spPr>
          <a:xfrm>
            <a:off x="7881620" y="1127125"/>
            <a:ext cx="3163570" cy="4578350"/>
          </a:xfrm>
          <a:prstGeom prst="roundRect">
            <a:avLst>
              <a:gd name="adj" fmla="val 2312"/>
            </a:avLst>
          </a:prstGeom>
          <a:solidFill>
            <a:srgbClr val="FFF4D5"/>
          </a:solidFill>
          <a:ln w="12700">
            <a:solidFill>
              <a:srgbClr val="F7B500"/>
            </a:solidFill>
            <a:prstDash val="solid"/>
          </a:ln>
          <a:effectLst>
            <a:outerShdw blurRad="12700" dist="50800" dir="2700000" algn="bl" rotWithShape="0">
              <a:srgbClr val="9AA9C1">
                <a:alpha val="12000"/>
              </a:srgbClr>
            </a:outerShdw>
          </a:effectLst>
        </p:spPr>
        <p:txBody>
          <a:bodyPr/>
          <a:lstStyle/>
          <a:p>
            <a:endParaRPr lang="en-PH"/>
          </a:p>
        </p:txBody>
      </p:sp>
      <p:sp>
        <p:nvSpPr>
          <p:cNvPr id="23" name="Text 20">
            <a:extLst>
              <a:ext uri="{FF2B5EF4-FFF2-40B4-BE49-F238E27FC236}">
                <a16:creationId xmlns:a16="http://schemas.microsoft.com/office/drawing/2014/main" id="{5566320E-0D14-1240-2FD4-43FE65CC0214}"/>
              </a:ext>
            </a:extLst>
          </p:cNvPr>
          <p:cNvSpPr/>
          <p:nvPr/>
        </p:nvSpPr>
        <p:spPr>
          <a:xfrm>
            <a:off x="8138160" y="1636776"/>
            <a:ext cx="2651760" cy="384048"/>
          </a:xfrm>
          <a:prstGeom prst="rect">
            <a:avLst/>
          </a:prstGeom>
          <a:noFill/>
        </p:spPr>
        <p:txBody>
          <a:bodyPr wrap="square" lIns="0" tIns="0" rIns="0" bIns="0" rtlCol="0" anchor="ctr">
            <a:noAutofit/>
          </a:bodyPr>
          <a:lstStyle/>
          <a:p>
            <a:pPr marL="0" indent="0" algn="ctr">
              <a:buNone/>
            </a:pPr>
            <a:r>
              <a:rPr lang="en-US" sz="2000" b="1" dirty="0">
                <a:solidFill>
                  <a:srgbClr val="C78B00"/>
                </a:solidFill>
                <a:ea typeface="Arial" panose="020B0604020202020204" pitchFamily="34" charset="-122"/>
                <a:cs typeface="Arial" panose="020B0604020202020204" pitchFamily="34" charset="-120"/>
              </a:rPr>
              <a:t>Payers / Insurers</a:t>
            </a:r>
          </a:p>
        </p:txBody>
      </p:sp>
      <p:sp>
        <p:nvSpPr>
          <p:cNvPr id="24" name="Text 21">
            <a:extLst>
              <a:ext uri="{FF2B5EF4-FFF2-40B4-BE49-F238E27FC236}">
                <a16:creationId xmlns:a16="http://schemas.microsoft.com/office/drawing/2014/main" id="{4FB65AED-9B5B-E121-0B55-60BFD259F8B2}"/>
              </a:ext>
            </a:extLst>
          </p:cNvPr>
          <p:cNvSpPr/>
          <p:nvPr/>
        </p:nvSpPr>
        <p:spPr>
          <a:xfrm>
            <a:off x="8105060" y="2005680"/>
            <a:ext cx="2834800" cy="887187"/>
          </a:xfrm>
          <a:prstGeom prst="rect">
            <a:avLst/>
          </a:prstGeom>
          <a:noFill/>
        </p:spPr>
        <p:txBody>
          <a:bodyPr wrap="square" lIns="0" tIns="0" rIns="0" bIns="0" rtlCol="0" anchor="ctr">
            <a:normAutofit/>
          </a:bodyPr>
          <a:lstStyle/>
          <a:p>
            <a:pPr algn="ctr"/>
            <a:r>
              <a:rPr lang="en-PH" sz="1200" b="1" i="1" dirty="0"/>
              <a:t>Can claims be pre-adjudicated, dispute-free, and settled without costly post-care audits?</a:t>
            </a:r>
            <a:endParaRPr lang="en-US" sz="700" b="1" i="1" dirty="0">
              <a:solidFill>
                <a:srgbClr val="14213D"/>
              </a:solidFill>
              <a:ea typeface="Arial" panose="020B0604020202020204" pitchFamily="34" charset="-122"/>
              <a:cs typeface="Arial" panose="020B0604020202020204" pitchFamily="34" charset="-120"/>
            </a:endParaRPr>
          </a:p>
        </p:txBody>
      </p:sp>
      <p:sp>
        <p:nvSpPr>
          <p:cNvPr id="25" name="Shape 22">
            <a:extLst>
              <a:ext uri="{FF2B5EF4-FFF2-40B4-BE49-F238E27FC236}">
                <a16:creationId xmlns:a16="http://schemas.microsoft.com/office/drawing/2014/main" id="{EFDE4754-7109-2FB9-B9AB-8CEA7B9D5F9F}"/>
              </a:ext>
            </a:extLst>
          </p:cNvPr>
          <p:cNvSpPr/>
          <p:nvPr/>
        </p:nvSpPr>
        <p:spPr>
          <a:xfrm>
            <a:off x="8540496" y="2953639"/>
            <a:ext cx="1847088" cy="0"/>
          </a:xfrm>
          <a:prstGeom prst="line">
            <a:avLst/>
          </a:prstGeom>
          <a:noFill/>
          <a:ln w="19050">
            <a:solidFill>
              <a:srgbClr val="F7B500"/>
            </a:solidFill>
            <a:prstDash val="solid"/>
          </a:ln>
        </p:spPr>
        <p:txBody>
          <a:bodyPr/>
          <a:lstStyle/>
          <a:p>
            <a:endParaRPr lang="en-PH"/>
          </a:p>
        </p:txBody>
      </p:sp>
      <p:sp>
        <p:nvSpPr>
          <p:cNvPr id="28" name="Shape 25">
            <a:extLst>
              <a:ext uri="{FF2B5EF4-FFF2-40B4-BE49-F238E27FC236}">
                <a16:creationId xmlns:a16="http://schemas.microsoft.com/office/drawing/2014/main" id="{B941BEDF-7511-EFC3-9B07-B87077957008}"/>
              </a:ext>
            </a:extLst>
          </p:cNvPr>
          <p:cNvSpPr/>
          <p:nvPr/>
        </p:nvSpPr>
        <p:spPr>
          <a:xfrm>
            <a:off x="7811770" y="5833745"/>
            <a:ext cx="3241675" cy="438785"/>
          </a:xfrm>
          <a:prstGeom prst="roundRect">
            <a:avLst>
              <a:gd name="adj" fmla="val 12500"/>
            </a:avLst>
          </a:prstGeom>
          <a:solidFill>
            <a:srgbClr val="082B7F"/>
          </a:solidFill>
          <a:ln w="12700">
            <a:solidFill>
              <a:srgbClr val="082B7F"/>
            </a:solidFill>
            <a:prstDash val="solid"/>
          </a:ln>
          <a:effectLst>
            <a:outerShdw blurRad="12700" dist="50800" dir="2700000" algn="bl" rotWithShape="0">
              <a:srgbClr val="9AA9C1">
                <a:alpha val="12000"/>
              </a:srgbClr>
            </a:outerShdw>
          </a:effectLst>
        </p:spPr>
        <p:txBody>
          <a:bodyPr/>
          <a:lstStyle/>
          <a:p>
            <a:endParaRPr lang="en-PH"/>
          </a:p>
        </p:txBody>
      </p:sp>
      <p:sp>
        <p:nvSpPr>
          <p:cNvPr id="29" name="Text 26">
            <a:extLst>
              <a:ext uri="{FF2B5EF4-FFF2-40B4-BE49-F238E27FC236}">
                <a16:creationId xmlns:a16="http://schemas.microsoft.com/office/drawing/2014/main" id="{9F569BDD-2ACB-7E72-57AC-6157AE93AD73}"/>
              </a:ext>
            </a:extLst>
          </p:cNvPr>
          <p:cNvSpPr/>
          <p:nvPr/>
        </p:nvSpPr>
        <p:spPr>
          <a:xfrm>
            <a:off x="7843520" y="5853425"/>
            <a:ext cx="3357880" cy="438785"/>
          </a:xfrm>
          <a:prstGeom prst="rect">
            <a:avLst/>
          </a:prstGeom>
          <a:noFill/>
        </p:spPr>
        <p:txBody>
          <a:bodyPr wrap="square" lIns="0" tIns="0" rIns="0" bIns="0" rtlCol="0" anchor="ctr"/>
          <a:lstStyle/>
          <a:p>
            <a:pPr algn="ctr"/>
            <a:r>
              <a:rPr lang="en-PH" sz="1000" b="1" dirty="0">
                <a:solidFill>
                  <a:schemeClr val="bg1"/>
                </a:solidFill>
              </a:rPr>
              <a:t>Pilot value: measure what accelerates patient discharge clearance — and what causes billing delays.</a:t>
            </a:r>
            <a:endParaRPr lang="en-US" sz="300" b="1" dirty="0">
              <a:solidFill>
                <a:schemeClr val="bg1"/>
              </a:solidFill>
              <a:ea typeface="Arial" panose="020B0604020202020204" pitchFamily="34" charset="-122"/>
              <a:cs typeface="Arial" panose="020B0604020202020204" pitchFamily="34" charset="-120"/>
            </a:endParaRPr>
          </a:p>
        </p:txBody>
      </p:sp>
      <p:sp>
        <p:nvSpPr>
          <p:cNvPr id="30" name="Text 27">
            <a:extLst>
              <a:ext uri="{FF2B5EF4-FFF2-40B4-BE49-F238E27FC236}">
                <a16:creationId xmlns:a16="http://schemas.microsoft.com/office/drawing/2014/main" id="{D996AE80-B5A9-C92B-E42B-A311874830E9}"/>
              </a:ext>
            </a:extLst>
          </p:cNvPr>
          <p:cNvSpPr/>
          <p:nvPr/>
        </p:nvSpPr>
        <p:spPr>
          <a:xfrm>
            <a:off x="7054850" y="6491605"/>
            <a:ext cx="4754880" cy="91440"/>
          </a:xfrm>
          <a:prstGeom prst="rect">
            <a:avLst/>
          </a:prstGeom>
          <a:noFill/>
        </p:spPr>
        <p:txBody>
          <a:bodyPr wrap="square" lIns="0" tIns="0" rIns="0" bIns="0" rtlCol="0" anchor="ctr">
            <a:normAutofit/>
          </a:bodyPr>
          <a:lstStyle/>
          <a:p>
            <a:pPr marL="0" indent="0" algn="ctr">
              <a:buNone/>
            </a:pPr>
            <a:r>
              <a:rPr lang="en-US" sz="600" dirty="0">
                <a:solidFill>
                  <a:srgbClr val="5E6F8A"/>
                </a:solidFill>
                <a:ea typeface="Arial" panose="020B0604020202020204" pitchFamily="34" charset="-122"/>
                <a:cs typeface="Arial" panose="020B0604020202020204" pitchFamily="34" charset="-120"/>
              </a:rPr>
              <a:t>Environmental impact estimates begin only after pilot baseline calibration.</a:t>
            </a:r>
            <a:endParaRPr lang="en-US" sz="600" dirty="0"/>
          </a:p>
        </p:txBody>
      </p:sp>
      <p:sp>
        <p:nvSpPr>
          <p:cNvPr id="51" name="Shape 13">
            <a:extLst>
              <a:ext uri="{FF2B5EF4-FFF2-40B4-BE49-F238E27FC236}">
                <a16:creationId xmlns:a16="http://schemas.microsoft.com/office/drawing/2014/main" id="{C90AD4F2-B01B-C8A6-AA53-F41D9B32A63E}"/>
              </a:ext>
            </a:extLst>
          </p:cNvPr>
          <p:cNvSpPr/>
          <p:nvPr/>
        </p:nvSpPr>
        <p:spPr>
          <a:xfrm>
            <a:off x="467360" y="3820160"/>
            <a:ext cx="6692265" cy="2717800"/>
          </a:xfrm>
          <a:prstGeom prst="roundRect">
            <a:avLst>
              <a:gd name="adj" fmla="val 2312"/>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p>
        </p:txBody>
      </p:sp>
      <p:sp>
        <p:nvSpPr>
          <p:cNvPr id="52" name="Text 14">
            <a:extLst>
              <a:ext uri="{FF2B5EF4-FFF2-40B4-BE49-F238E27FC236}">
                <a16:creationId xmlns:a16="http://schemas.microsoft.com/office/drawing/2014/main" id="{54E0D396-1700-1D1D-F394-A9A1DA489901}"/>
              </a:ext>
            </a:extLst>
          </p:cNvPr>
          <p:cNvSpPr/>
          <p:nvPr/>
        </p:nvSpPr>
        <p:spPr>
          <a:xfrm>
            <a:off x="396570" y="4110199"/>
            <a:ext cx="4973671" cy="384175"/>
          </a:xfrm>
          <a:prstGeom prst="rect">
            <a:avLst/>
          </a:prstGeom>
          <a:noFill/>
        </p:spPr>
        <p:txBody>
          <a:bodyPr wrap="square" lIns="0" tIns="0" rIns="0" bIns="0" rtlCol="0" anchor="ctr">
            <a:noAutofit/>
          </a:bodyPr>
          <a:lstStyle/>
          <a:p>
            <a:pPr algn="ctr"/>
            <a:r>
              <a:rPr lang="en-PH" sz="2800" b="1" dirty="0"/>
              <a:t>Healthcare Administrators</a:t>
            </a:r>
            <a:endParaRPr lang="en-US" sz="4000" b="1" dirty="0">
              <a:solidFill>
                <a:srgbClr val="082B7F"/>
              </a:solidFill>
              <a:ea typeface="Arial" panose="020B0604020202020204" pitchFamily="34" charset="-122"/>
              <a:cs typeface="Arial" panose="020B0604020202020204" pitchFamily="34" charset="-120"/>
            </a:endParaRPr>
          </a:p>
        </p:txBody>
      </p:sp>
      <p:sp>
        <p:nvSpPr>
          <p:cNvPr id="53" name="Text 15">
            <a:extLst>
              <a:ext uri="{FF2B5EF4-FFF2-40B4-BE49-F238E27FC236}">
                <a16:creationId xmlns:a16="http://schemas.microsoft.com/office/drawing/2014/main" id="{4A373408-D5ED-8978-E82E-12374CF894DD}"/>
              </a:ext>
            </a:extLst>
          </p:cNvPr>
          <p:cNvSpPr/>
          <p:nvPr/>
        </p:nvSpPr>
        <p:spPr>
          <a:xfrm>
            <a:off x="1290434" y="4685030"/>
            <a:ext cx="3206225" cy="494030"/>
          </a:xfrm>
          <a:prstGeom prst="rect">
            <a:avLst/>
          </a:prstGeom>
          <a:noFill/>
        </p:spPr>
        <p:txBody>
          <a:bodyPr wrap="square" lIns="0" tIns="0" rIns="0" bIns="0" rtlCol="0" anchor="ctr">
            <a:normAutofit fontScale="70000" lnSpcReduction="20000"/>
          </a:bodyPr>
          <a:lstStyle/>
          <a:p>
            <a:pPr algn="ctr"/>
            <a:r>
              <a:rPr lang="en-PH" b="1" i="1" dirty="0"/>
              <a:t>Where do billing bottlenecks occur, and how do we speed up bed turnover?</a:t>
            </a:r>
            <a:endParaRPr lang="en-US" sz="1400" b="1" i="1" dirty="0">
              <a:solidFill>
                <a:srgbClr val="14213D"/>
              </a:solidFill>
              <a:ea typeface="Arial" panose="020B0604020202020204" pitchFamily="34" charset="-122"/>
              <a:cs typeface="Arial" panose="020B0604020202020204" pitchFamily="34" charset="-120"/>
            </a:endParaRPr>
          </a:p>
        </p:txBody>
      </p:sp>
      <p:sp>
        <p:nvSpPr>
          <p:cNvPr id="55" name="Text 17">
            <a:extLst>
              <a:ext uri="{FF2B5EF4-FFF2-40B4-BE49-F238E27FC236}">
                <a16:creationId xmlns:a16="http://schemas.microsoft.com/office/drawing/2014/main" id="{DD376924-059D-53A8-AF28-3F7CD5F323D6}"/>
              </a:ext>
            </a:extLst>
          </p:cNvPr>
          <p:cNvSpPr/>
          <p:nvPr/>
        </p:nvSpPr>
        <p:spPr>
          <a:xfrm>
            <a:off x="990600" y="5335417"/>
            <a:ext cx="3794474" cy="594360"/>
          </a:xfrm>
          <a:prstGeom prst="rect">
            <a:avLst/>
          </a:prstGeom>
          <a:noFill/>
        </p:spPr>
        <p:txBody>
          <a:bodyPr wrap="square" lIns="0" tIns="0" rIns="0" bIns="0" rtlCol="0" anchor="ctr">
            <a:normAutofit fontScale="62500" lnSpcReduction="20000"/>
          </a:bodyPr>
          <a:lstStyle/>
          <a:p>
            <a:pPr algn="ctr"/>
            <a:r>
              <a:rPr lang="en-PH" dirty="0"/>
              <a:t>Centralized inpatient ledger, pre-flight </a:t>
            </a:r>
            <a:r>
              <a:rPr lang="en-PH" dirty="0" err="1"/>
              <a:t>eClaims</a:t>
            </a:r>
            <a:r>
              <a:rPr lang="en-PH" dirty="0"/>
              <a:t> 3.0 XML validation before discharge, automated doctor fee tracking via SMS, and instant digital gate-pass clearance.</a:t>
            </a:r>
            <a:endParaRPr lang="en-US" sz="1000" dirty="0">
              <a:solidFill>
                <a:srgbClr val="5E6F8A"/>
              </a:solidFill>
              <a:ea typeface="Arial" panose="020B0604020202020204" pitchFamily="34" charset="-122"/>
              <a:cs typeface="Arial" panose="020B0604020202020204" pitchFamily="34" charset="-120"/>
            </a:endParaRPr>
          </a:p>
        </p:txBody>
      </p:sp>
      <p:sp>
        <p:nvSpPr>
          <p:cNvPr id="56" name="Text 18">
            <a:extLst>
              <a:ext uri="{FF2B5EF4-FFF2-40B4-BE49-F238E27FC236}">
                <a16:creationId xmlns:a16="http://schemas.microsoft.com/office/drawing/2014/main" id="{9BEC80C6-9982-54D3-B857-AAABCDB06297}"/>
              </a:ext>
            </a:extLst>
          </p:cNvPr>
          <p:cNvSpPr/>
          <p:nvPr/>
        </p:nvSpPr>
        <p:spPr>
          <a:xfrm>
            <a:off x="867123" y="6103452"/>
            <a:ext cx="4041427" cy="330347"/>
          </a:xfrm>
          <a:prstGeom prst="rect">
            <a:avLst/>
          </a:prstGeom>
          <a:noFill/>
        </p:spPr>
        <p:txBody>
          <a:bodyPr wrap="square" lIns="0" tIns="0" rIns="0" bIns="0" rtlCol="0" anchor="ctr">
            <a:noAutofit/>
          </a:bodyPr>
          <a:lstStyle/>
          <a:p>
            <a:pPr algn="ctr"/>
            <a:r>
              <a:rPr lang="en-PH" sz="900" b="1" dirty="0">
                <a:solidFill>
                  <a:srgbClr val="0037B8"/>
                </a:solidFill>
              </a:rPr>
              <a:t>Bed turnover • Clean claims (&lt;2% RTH) • 40% less clerical overhead</a:t>
            </a:r>
            <a:endParaRPr lang="en-US" sz="100" b="1" dirty="0">
              <a:solidFill>
                <a:srgbClr val="0037B8"/>
              </a:solidFill>
              <a:ea typeface="Arial" panose="020B0604020202020204" pitchFamily="34" charset="-122"/>
              <a:cs typeface="Arial" panose="020B0604020202020204" pitchFamily="34" charset="-120"/>
            </a:endParaRPr>
          </a:p>
        </p:txBody>
      </p:sp>
      <p:sp>
        <p:nvSpPr>
          <p:cNvPr id="2" name="TextBox 1">
            <a:extLst>
              <a:ext uri="{FF2B5EF4-FFF2-40B4-BE49-F238E27FC236}">
                <a16:creationId xmlns:a16="http://schemas.microsoft.com/office/drawing/2014/main" id="{196ADB93-9EAE-AF1A-3202-0DC49EDE69D6}"/>
              </a:ext>
            </a:extLst>
          </p:cNvPr>
          <p:cNvSpPr txBox="1"/>
          <p:nvPr/>
        </p:nvSpPr>
        <p:spPr>
          <a:xfrm>
            <a:off x="12440093" y="5092995"/>
            <a:ext cx="184731" cy="369332"/>
          </a:xfrm>
          <a:prstGeom prst="rect">
            <a:avLst/>
          </a:prstGeom>
          <a:noFill/>
        </p:spPr>
        <p:txBody>
          <a:bodyPr wrap="none" rtlCol="0">
            <a:spAutoFit/>
          </a:bodyPr>
          <a:lstStyle/>
          <a:p>
            <a:endParaRPr lang="en-US" dirty="0"/>
          </a:p>
        </p:txBody>
      </p:sp>
      <p:pic>
        <p:nvPicPr>
          <p:cNvPr id="6" name="Picture 5" descr="Health Benefits of PhilHealth Membership | Mediko.PH">
            <a:extLst>
              <a:ext uri="{FF2B5EF4-FFF2-40B4-BE49-F238E27FC236}">
                <a16:creationId xmlns:a16="http://schemas.microsoft.com/office/drawing/2014/main" id="{E4D072A2-0A45-A9F7-4BF3-AA2A7D3A6CB4}"/>
              </a:ext>
            </a:extLst>
          </p:cNvPr>
          <p:cNvPicPr>
            <a:picLocks noChangeAspect="1"/>
          </p:cNvPicPr>
          <p:nvPr/>
        </p:nvPicPr>
        <p:blipFill>
          <a:blip r:embed="rId3"/>
          <a:stretch>
            <a:fillRect/>
          </a:stretch>
        </p:blipFill>
        <p:spPr>
          <a:xfrm>
            <a:off x="8334776" y="2814268"/>
            <a:ext cx="2195028" cy="801577"/>
          </a:xfrm>
          <a:prstGeom prst="rect">
            <a:avLst/>
          </a:prstGeom>
        </p:spPr>
      </p:pic>
      <p:pic>
        <p:nvPicPr>
          <p:cNvPr id="4" name="Picture 3" descr="Maxicare Healthcare Corporation | Customer Charter">
            <a:extLst>
              <a:ext uri="{FF2B5EF4-FFF2-40B4-BE49-F238E27FC236}">
                <a16:creationId xmlns:a16="http://schemas.microsoft.com/office/drawing/2014/main" id="{F071BE9E-BB47-F5F8-E22A-60E22D4619D0}"/>
              </a:ext>
            </a:extLst>
          </p:cNvPr>
          <p:cNvPicPr>
            <a:picLocks noChangeAspect="1"/>
          </p:cNvPicPr>
          <p:nvPr/>
        </p:nvPicPr>
        <p:blipFill>
          <a:blip r:embed="rId4"/>
          <a:stretch>
            <a:fillRect/>
          </a:stretch>
        </p:blipFill>
        <p:spPr>
          <a:xfrm>
            <a:off x="8334776" y="3641894"/>
            <a:ext cx="855743" cy="276966"/>
          </a:xfrm>
          <a:prstGeom prst="rect">
            <a:avLst/>
          </a:prstGeom>
        </p:spPr>
      </p:pic>
      <p:pic>
        <p:nvPicPr>
          <p:cNvPr id="13" name="Picture 12" descr="MegaClinic - Care Center">
            <a:extLst>
              <a:ext uri="{FF2B5EF4-FFF2-40B4-BE49-F238E27FC236}">
                <a16:creationId xmlns:a16="http://schemas.microsoft.com/office/drawing/2014/main" id="{5160218F-AF66-7139-81BB-E25848F98B81}"/>
              </a:ext>
            </a:extLst>
          </p:cNvPr>
          <p:cNvPicPr>
            <a:picLocks noChangeAspect="1"/>
          </p:cNvPicPr>
          <p:nvPr/>
        </p:nvPicPr>
        <p:blipFill>
          <a:blip r:embed="rId5"/>
          <a:stretch>
            <a:fillRect/>
          </a:stretch>
        </p:blipFill>
        <p:spPr>
          <a:xfrm>
            <a:off x="9624699" y="3557837"/>
            <a:ext cx="905105" cy="407297"/>
          </a:xfrm>
          <a:prstGeom prst="rect">
            <a:avLst/>
          </a:prstGeom>
        </p:spPr>
      </p:pic>
      <p:pic>
        <p:nvPicPr>
          <p:cNvPr id="16" name="Picture 15" descr="About - Intellicare">
            <a:extLst>
              <a:ext uri="{FF2B5EF4-FFF2-40B4-BE49-F238E27FC236}">
                <a16:creationId xmlns:a16="http://schemas.microsoft.com/office/drawing/2014/main" id="{D6F91AD4-8C42-9419-56EE-A0EA466923E3}"/>
              </a:ext>
            </a:extLst>
          </p:cNvPr>
          <p:cNvPicPr>
            <a:picLocks noChangeAspect="1"/>
          </p:cNvPicPr>
          <p:nvPr/>
        </p:nvPicPr>
        <p:blipFill>
          <a:blip r:embed="rId6"/>
          <a:stretch>
            <a:fillRect/>
          </a:stretch>
        </p:blipFill>
        <p:spPr>
          <a:xfrm>
            <a:off x="8894557" y="4078525"/>
            <a:ext cx="1075466" cy="323020"/>
          </a:xfrm>
          <a:prstGeom prst="rect">
            <a:avLst/>
          </a:prstGeom>
        </p:spPr>
      </p:pic>
      <p:pic>
        <p:nvPicPr>
          <p:cNvPr id="19" name="Picture 18" descr="PHILCARE">
            <a:extLst>
              <a:ext uri="{FF2B5EF4-FFF2-40B4-BE49-F238E27FC236}">
                <a16:creationId xmlns:a16="http://schemas.microsoft.com/office/drawing/2014/main" id="{A2D5DBE1-EC49-DDD3-45A4-C30E816D8F0B}"/>
              </a:ext>
            </a:extLst>
          </p:cNvPr>
          <p:cNvPicPr>
            <a:picLocks noChangeAspect="1"/>
          </p:cNvPicPr>
          <p:nvPr/>
        </p:nvPicPr>
        <p:blipFill>
          <a:blip r:embed="rId7"/>
          <a:stretch>
            <a:fillRect/>
          </a:stretch>
        </p:blipFill>
        <p:spPr>
          <a:xfrm>
            <a:off x="8173023" y="4536352"/>
            <a:ext cx="1017496" cy="395693"/>
          </a:xfrm>
          <a:prstGeom prst="rect">
            <a:avLst/>
          </a:prstGeom>
        </p:spPr>
      </p:pic>
      <p:pic>
        <p:nvPicPr>
          <p:cNvPr id="20" name="Picture 19" descr="Individual Health Insurance Philippines | iCare HMO Philippines">
            <a:extLst>
              <a:ext uri="{FF2B5EF4-FFF2-40B4-BE49-F238E27FC236}">
                <a16:creationId xmlns:a16="http://schemas.microsoft.com/office/drawing/2014/main" id="{91D667C8-837C-AC13-6542-3B7291EAE6DE}"/>
              </a:ext>
            </a:extLst>
          </p:cNvPr>
          <p:cNvPicPr>
            <a:picLocks noChangeAspect="1"/>
          </p:cNvPicPr>
          <p:nvPr/>
        </p:nvPicPr>
        <p:blipFill>
          <a:blip r:embed="rId8"/>
          <a:stretch>
            <a:fillRect/>
          </a:stretch>
        </p:blipFill>
        <p:spPr>
          <a:xfrm>
            <a:off x="9637275" y="4388184"/>
            <a:ext cx="1152645" cy="593691"/>
          </a:xfrm>
          <a:prstGeom prst="rect">
            <a:avLst/>
          </a:prstGeom>
        </p:spPr>
      </p:pic>
      <p:pic>
        <p:nvPicPr>
          <p:cNvPr id="21" name="Picture 20" descr="KAISER INTERNATIONAL HEALTHGROUP, INC. - Calamba Medical Center">
            <a:extLst>
              <a:ext uri="{FF2B5EF4-FFF2-40B4-BE49-F238E27FC236}">
                <a16:creationId xmlns:a16="http://schemas.microsoft.com/office/drawing/2014/main" id="{211E6BC9-694F-983B-998A-DFA45326C6E4}"/>
              </a:ext>
            </a:extLst>
          </p:cNvPr>
          <p:cNvPicPr>
            <a:picLocks noChangeAspect="1"/>
          </p:cNvPicPr>
          <p:nvPr/>
        </p:nvPicPr>
        <p:blipFill>
          <a:blip r:embed="rId9"/>
          <a:stretch>
            <a:fillRect/>
          </a:stretch>
        </p:blipFill>
        <p:spPr>
          <a:xfrm>
            <a:off x="8780353" y="4737473"/>
            <a:ext cx="1397316" cy="1024698"/>
          </a:xfrm>
          <a:prstGeom prst="rect">
            <a:avLst/>
          </a:prstGeom>
        </p:spPr>
      </p:pic>
    </p:spTree>
    <p:extLst>
      <p:ext uri="{BB962C8B-B14F-4D97-AF65-F5344CB8AC3E}">
        <p14:creationId xmlns:p14="http://schemas.microsoft.com/office/powerpoint/2010/main" val="97671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2EE91-A257-8D42-D430-85F9E063D980}"/>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2349EF75-2D32-D482-5692-ABD77414E0BA}"/>
              </a:ext>
            </a:extLst>
          </p:cNvPr>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p>
        </p:txBody>
      </p:sp>
      <p:sp>
        <p:nvSpPr>
          <p:cNvPr id="7" name="Text 4">
            <a:extLst>
              <a:ext uri="{FF2B5EF4-FFF2-40B4-BE49-F238E27FC236}">
                <a16:creationId xmlns:a16="http://schemas.microsoft.com/office/drawing/2014/main" id="{E0505097-434F-D750-883D-7F86469928E4}"/>
              </a:ext>
            </a:extLst>
          </p:cNvPr>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latin typeface="Arial" panose="020B0604020202020204" pitchFamily="34" charset="0"/>
                <a:ea typeface="Arial" panose="020B0604020202020204" pitchFamily="34" charset="-122"/>
                <a:cs typeface="Arial" panose="020B0604020202020204" pitchFamily="34" charset="-120"/>
              </a:rPr>
              <a:t>8/10</a:t>
            </a:r>
            <a:endParaRPr lang="en-US" sz="950" dirty="0"/>
          </a:p>
        </p:txBody>
      </p:sp>
      <p:sp>
        <p:nvSpPr>
          <p:cNvPr id="2" name="TextBox 1">
            <a:extLst>
              <a:ext uri="{FF2B5EF4-FFF2-40B4-BE49-F238E27FC236}">
                <a16:creationId xmlns:a16="http://schemas.microsoft.com/office/drawing/2014/main" id="{B24790A1-3913-109E-F667-5EB214D0836E}"/>
              </a:ext>
            </a:extLst>
          </p:cNvPr>
          <p:cNvSpPr txBox="1"/>
          <p:nvPr/>
        </p:nvSpPr>
        <p:spPr>
          <a:xfrm>
            <a:off x="12440093" y="5092995"/>
            <a:ext cx="184731" cy="369332"/>
          </a:xfrm>
          <a:prstGeom prst="rect">
            <a:avLst/>
          </a:prstGeom>
          <a:noFill/>
        </p:spPr>
        <p:txBody>
          <a:bodyPr wrap="none" rtlCol="0">
            <a:spAutoFit/>
          </a:bodyPr>
          <a:lstStyle/>
          <a:p>
            <a:endParaRPr lang="en-US" dirty="0"/>
          </a:p>
        </p:txBody>
      </p:sp>
      <p:pic>
        <p:nvPicPr>
          <p:cNvPr id="13" name="Picture 12">
            <a:extLst>
              <a:ext uri="{FF2B5EF4-FFF2-40B4-BE49-F238E27FC236}">
                <a16:creationId xmlns:a16="http://schemas.microsoft.com/office/drawing/2014/main" id="{BC8F655F-0EA6-688D-153E-4ACF28C9894B}"/>
              </a:ext>
            </a:extLst>
          </p:cNvPr>
          <p:cNvPicPr>
            <a:picLocks noChangeAspect="1"/>
          </p:cNvPicPr>
          <p:nvPr/>
        </p:nvPicPr>
        <p:blipFill>
          <a:blip r:embed="rId3"/>
          <a:stretch>
            <a:fillRect/>
          </a:stretch>
        </p:blipFill>
        <p:spPr>
          <a:xfrm>
            <a:off x="0" y="495176"/>
            <a:ext cx="12192000" cy="6446083"/>
          </a:xfrm>
          <a:prstGeom prst="rect">
            <a:avLst/>
          </a:prstGeom>
        </p:spPr>
      </p:pic>
    </p:spTree>
    <p:extLst>
      <p:ext uri="{BB962C8B-B14F-4D97-AF65-F5344CB8AC3E}">
        <p14:creationId xmlns:p14="http://schemas.microsoft.com/office/powerpoint/2010/main" val="3226552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pptx_extract/ppt/media/image1.png"/>
          <p:cNvPicPr>
            <a:picLocks noChangeAspect="1"/>
          </p:cNvPicPr>
          <p:nvPr/>
        </p:nvPicPr>
        <p:blipFill>
          <a:blip r:embed="rId3"/>
          <a:stretch>
            <a:fillRect/>
          </a:stretch>
        </p:blipFill>
        <p:spPr>
          <a:xfrm>
            <a:off x="210312" y="118872"/>
            <a:ext cx="1261872" cy="402336"/>
          </a:xfrm>
          <a:prstGeom prst="rect">
            <a:avLst/>
          </a:prstGeom>
        </p:spPr>
      </p:pic>
      <p:sp>
        <p:nvSpPr>
          <p:cNvPr id="3" name="Text 0"/>
          <p:cNvSpPr/>
          <p:nvPr/>
        </p:nvSpPr>
        <p:spPr>
          <a:xfrm>
            <a:off x="1572768" y="36576"/>
            <a:ext cx="6035040" cy="292608"/>
          </a:xfrm>
          <a:prstGeom prst="rect">
            <a:avLst/>
          </a:prstGeom>
          <a:noFill/>
        </p:spPr>
        <p:txBody>
          <a:bodyPr wrap="square" lIns="0" tIns="0" rIns="0" bIns="0" rtlCol="0" anchor="ctr">
            <a:normAutofit fontScale="92500" lnSpcReduction="10000"/>
          </a:bodyPr>
          <a:lstStyle/>
          <a:p>
            <a:pPr marL="0" indent="0">
              <a:buNone/>
            </a:pPr>
            <a:r>
              <a:rPr lang="en-US" sz="2250" b="1" dirty="0">
                <a:solidFill>
                  <a:srgbClr val="082B7F"/>
                </a:solidFill>
                <a:latin typeface="Arial" panose="020B0604020202020204" pitchFamily="34" charset="0"/>
                <a:ea typeface="Arial" panose="020B0604020202020204" pitchFamily="34" charset="-122"/>
                <a:cs typeface="Arial" panose="020B0604020202020204" pitchFamily="34" charset="0"/>
              </a:rPr>
              <a:t>Feasibility &amp; Scalability</a:t>
            </a:r>
            <a:endParaRPr lang="en-US" sz="2250" dirty="0">
              <a:latin typeface="Arial" panose="020B0604020202020204" pitchFamily="34" charset="0"/>
              <a:cs typeface="Arial" panose="020B0604020202020204" pitchFamily="34" charset="0"/>
            </a:endParaRPr>
          </a:p>
        </p:txBody>
      </p:sp>
      <p:sp>
        <p:nvSpPr>
          <p:cNvPr id="4" name="Text 1"/>
          <p:cNvSpPr/>
          <p:nvPr/>
        </p:nvSpPr>
        <p:spPr>
          <a:xfrm>
            <a:off x="1581912" y="329184"/>
            <a:ext cx="7269480" cy="182880"/>
          </a:xfrm>
          <a:prstGeom prst="rect">
            <a:avLst/>
          </a:prstGeom>
          <a:noFill/>
        </p:spPr>
        <p:txBody>
          <a:bodyPr wrap="square" lIns="0" tIns="0" rIns="0" bIns="0" rtlCol="0" anchor="ctr">
            <a:normAutofit/>
          </a:bodyPr>
          <a:lstStyle/>
          <a:p>
            <a:pPr marL="0" indent="0">
              <a:buNone/>
            </a:pPr>
            <a:r>
              <a:rPr lang="en-US" sz="850" dirty="0">
                <a:solidFill>
                  <a:srgbClr val="5E6F8A"/>
                </a:solidFill>
                <a:latin typeface="Arial" panose="020B0604020202020204" pitchFamily="34" charset="0"/>
                <a:ea typeface="Arial" panose="020B0604020202020204" pitchFamily="34" charset="-122"/>
                <a:cs typeface="Arial" panose="020B0604020202020204" pitchFamily="34" charset="0"/>
              </a:rPr>
              <a:t>Prototype demonstrated, pilot validated, then corridor-by-corridor expansion.</a:t>
            </a:r>
            <a:endParaRPr lang="en-US" sz="850" dirty="0">
              <a:latin typeface="Arial" panose="020B0604020202020204" pitchFamily="34" charset="0"/>
              <a:cs typeface="Arial" panose="020B0604020202020204" pitchFamily="34" charset="0"/>
            </a:endParaRPr>
          </a:p>
        </p:txBody>
      </p:sp>
      <p:sp>
        <p:nvSpPr>
          <p:cNvPr id="5" name="Shape 2"/>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6" name="Shape 3"/>
          <p:cNvSpPr/>
          <p:nvPr/>
        </p:nvSpPr>
        <p:spPr>
          <a:xfrm>
            <a:off x="7159752" y="630936"/>
            <a:ext cx="685800" cy="22860"/>
          </a:xfrm>
          <a:prstGeom prst="rect">
            <a:avLst/>
          </a:prstGeom>
          <a:solidFill>
            <a:srgbClr val="F7B500"/>
          </a:solidFill>
          <a:ln w="12700">
            <a:solidFill>
              <a:srgbClr val="F7B500"/>
            </a:solidFill>
            <a:prstDash val="solid"/>
          </a:ln>
        </p:spPr>
        <p:txBody>
          <a:bodyPr/>
          <a:lstStyle/>
          <a:p>
            <a:endParaRPr lang="en-PH">
              <a:latin typeface="Arial" panose="020B0604020202020204" pitchFamily="34" charset="0"/>
              <a:cs typeface="Arial" panose="020B0604020202020204" pitchFamily="34" charset="0"/>
            </a:endParaRPr>
          </a:p>
        </p:txBody>
      </p:sp>
      <p:sp>
        <p:nvSpPr>
          <p:cNvPr id="7" name="Text 4"/>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latin typeface="Arial" panose="020B0604020202020204" pitchFamily="34" charset="0"/>
                <a:ea typeface="Arial" panose="020B0604020202020204" pitchFamily="34" charset="-122"/>
                <a:cs typeface="Arial" panose="020B0604020202020204" pitchFamily="34" charset="0"/>
              </a:rPr>
              <a:t>9/10</a:t>
            </a:r>
            <a:endParaRPr lang="en-US" sz="950" dirty="0">
              <a:latin typeface="Arial" panose="020B0604020202020204" pitchFamily="34" charset="0"/>
              <a:cs typeface="Arial" panose="020B0604020202020204" pitchFamily="34" charset="0"/>
            </a:endParaRPr>
          </a:p>
        </p:txBody>
      </p:sp>
      <p:sp>
        <p:nvSpPr>
          <p:cNvPr id="8" name="Text 5"/>
          <p:cNvSpPr/>
          <p:nvPr/>
        </p:nvSpPr>
        <p:spPr>
          <a:xfrm>
            <a:off x="210312" y="6601968"/>
            <a:ext cx="5120640" cy="118872"/>
          </a:xfrm>
          <a:prstGeom prst="rect">
            <a:avLst/>
          </a:prstGeom>
          <a:noFill/>
        </p:spPr>
        <p:txBody>
          <a:bodyPr wrap="square" lIns="0" tIns="0" rIns="0" bIns="0" rtlCol="0" anchor="ctr">
            <a:normAutofit/>
          </a:bodyPr>
          <a:lstStyle/>
          <a:p>
            <a:pPr marL="0" indent="0">
              <a:buNone/>
            </a:pPr>
            <a:r>
              <a:rPr lang="en-US" sz="560" dirty="0">
                <a:solidFill>
                  <a:srgbClr val="5E6F8A"/>
                </a:solidFill>
                <a:latin typeface="Arial" panose="020B0604020202020204" pitchFamily="34" charset="0"/>
                <a:ea typeface="Arial" panose="020B0604020202020204" pitchFamily="34" charset="-122"/>
                <a:cs typeface="Arial" panose="020B0604020202020204" pitchFamily="34" charset="0"/>
              </a:rPr>
              <a:t>LakbayPoints • MMITS Bagong Gawi, Bagong Galaw Challenge</a:t>
            </a:r>
            <a:endParaRPr lang="en-US" sz="560" dirty="0">
              <a:latin typeface="Arial" panose="020B0604020202020204" pitchFamily="34" charset="0"/>
              <a:cs typeface="Arial" panose="020B0604020202020204" pitchFamily="34" charset="0"/>
            </a:endParaRPr>
          </a:p>
        </p:txBody>
      </p:sp>
      <p:sp>
        <p:nvSpPr>
          <p:cNvPr id="9" name="Text 6"/>
          <p:cNvSpPr/>
          <p:nvPr/>
        </p:nvSpPr>
        <p:spPr>
          <a:xfrm>
            <a:off x="11484864" y="6537960"/>
            <a:ext cx="228600" cy="109728"/>
          </a:xfrm>
          <a:prstGeom prst="rect">
            <a:avLst/>
          </a:prstGeom>
          <a:noFill/>
        </p:spPr>
        <p:txBody>
          <a:bodyPr wrap="square" lIns="0" tIns="0" rIns="0" bIns="0" rtlCol="0" anchor="ctr">
            <a:normAutofit/>
          </a:bodyPr>
          <a:lstStyle/>
          <a:p>
            <a:pPr marL="0" indent="0" algn="r">
              <a:buNone/>
            </a:pPr>
            <a:r>
              <a:rPr lang="en-US" sz="550" dirty="0">
                <a:solidFill>
                  <a:srgbClr val="8492A6"/>
                </a:solidFill>
                <a:latin typeface="Arial" panose="020B0604020202020204" pitchFamily="34" charset="0"/>
                <a:ea typeface="Arial" panose="020B0604020202020204" pitchFamily="34" charset="-122"/>
                <a:cs typeface="Arial" panose="020B0604020202020204" pitchFamily="34" charset="0"/>
              </a:rPr>
              <a:t>9</a:t>
            </a:r>
            <a:endParaRPr lang="en-US" sz="550" dirty="0">
              <a:latin typeface="Arial" panose="020B0604020202020204" pitchFamily="34" charset="0"/>
              <a:cs typeface="Arial" panose="020B0604020202020204" pitchFamily="34" charset="0"/>
            </a:endParaRPr>
          </a:p>
        </p:txBody>
      </p:sp>
      <p:sp>
        <p:nvSpPr>
          <p:cNvPr id="10" name="Shape 7"/>
          <p:cNvSpPr/>
          <p:nvPr/>
        </p:nvSpPr>
        <p:spPr>
          <a:xfrm>
            <a:off x="420624" y="1078992"/>
            <a:ext cx="3182112" cy="4005072"/>
          </a:xfrm>
          <a:prstGeom prst="roundRect">
            <a:avLst>
              <a:gd name="adj" fmla="val 2299"/>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latin typeface="Arial" panose="020B0604020202020204" pitchFamily="34" charset="0"/>
              <a:cs typeface="Arial" panose="020B0604020202020204" pitchFamily="34" charset="0"/>
            </a:endParaRPr>
          </a:p>
        </p:txBody>
      </p:sp>
      <p:sp>
        <p:nvSpPr>
          <p:cNvPr id="11" name="Text 8"/>
          <p:cNvSpPr/>
          <p:nvPr/>
        </p:nvSpPr>
        <p:spPr>
          <a:xfrm>
            <a:off x="640080" y="1408176"/>
            <a:ext cx="1874520" cy="438912"/>
          </a:xfrm>
          <a:prstGeom prst="rect">
            <a:avLst/>
          </a:prstGeom>
          <a:noFill/>
        </p:spPr>
        <p:txBody>
          <a:bodyPr wrap="square" lIns="0" tIns="0" rIns="0" bIns="0" rtlCol="0" anchor="ctr">
            <a:normAutofit fontScale="92500" lnSpcReduction="20000"/>
          </a:bodyPr>
          <a:lstStyle/>
          <a:p>
            <a:pPr marL="0" indent="0">
              <a:buNone/>
            </a:pPr>
            <a:r>
              <a:rPr lang="en-US" sz="1840" b="1" dirty="0">
                <a:solidFill>
                  <a:srgbClr val="082B7F"/>
                </a:solidFill>
                <a:latin typeface="Arial" panose="020B0604020202020204" pitchFamily="34" charset="0"/>
                <a:ea typeface="Arial" panose="020B0604020202020204" pitchFamily="34" charset="-122"/>
                <a:cs typeface="Arial" panose="020B0604020202020204" pitchFamily="34" charset="0"/>
              </a:rPr>
              <a:t>Prototype</a:t>
            </a:r>
            <a:endParaRPr lang="en-US" sz="1840" dirty="0">
              <a:latin typeface="Arial" panose="020B0604020202020204" pitchFamily="34" charset="0"/>
              <a:cs typeface="Arial" panose="020B0604020202020204" pitchFamily="34" charset="0"/>
            </a:endParaRPr>
          </a:p>
          <a:p>
            <a:pPr marL="0" indent="0">
              <a:buNone/>
            </a:pPr>
            <a:r>
              <a:rPr lang="en-US" sz="1840" b="1" dirty="0">
                <a:solidFill>
                  <a:srgbClr val="082B7F"/>
                </a:solidFill>
                <a:latin typeface="Arial" panose="020B0604020202020204" pitchFamily="34" charset="0"/>
                <a:ea typeface="Arial" panose="020B0604020202020204" pitchFamily="34" charset="-122"/>
                <a:cs typeface="Arial" panose="020B0604020202020204" pitchFamily="34" charset="0"/>
              </a:rPr>
              <a:t>demonstrated</a:t>
            </a:r>
            <a:endParaRPr lang="en-US" sz="1840" dirty="0">
              <a:latin typeface="Arial" panose="020B0604020202020204" pitchFamily="34" charset="0"/>
              <a:cs typeface="Arial" panose="020B0604020202020204" pitchFamily="34" charset="0"/>
            </a:endParaRPr>
          </a:p>
        </p:txBody>
      </p:sp>
      <p:sp>
        <p:nvSpPr>
          <p:cNvPr id="12" name="Text 9"/>
          <p:cNvSpPr/>
          <p:nvPr/>
        </p:nvSpPr>
        <p:spPr>
          <a:xfrm>
            <a:off x="649224" y="2048256"/>
            <a:ext cx="2468880" cy="164592"/>
          </a:xfrm>
          <a:prstGeom prst="rect">
            <a:avLst/>
          </a:prstGeom>
          <a:noFill/>
        </p:spPr>
        <p:txBody>
          <a:bodyPr wrap="square" lIns="0" tIns="0" rIns="0" bIns="0" rtlCol="0" anchor="ctr">
            <a:normAutofit/>
          </a:bodyPr>
          <a:lstStyle/>
          <a:p>
            <a:pPr marL="0" indent="0">
              <a:buNone/>
            </a:pPr>
            <a:r>
              <a:rPr lang="en-US" sz="900" b="1" dirty="0">
                <a:solidFill>
                  <a:srgbClr val="5E6F8A"/>
                </a:solidFill>
                <a:latin typeface="Arial" panose="020B0604020202020204" pitchFamily="34" charset="0"/>
                <a:ea typeface="Arial" panose="020B0604020202020204" pitchFamily="34" charset="-122"/>
                <a:cs typeface="Arial" panose="020B0604020202020204" pitchFamily="34" charset="0"/>
              </a:rPr>
              <a:t>Feasible now</a:t>
            </a:r>
            <a:endParaRPr lang="en-US" sz="900" dirty="0">
              <a:latin typeface="Arial" panose="020B0604020202020204" pitchFamily="34" charset="0"/>
              <a:cs typeface="Arial" panose="020B0604020202020204" pitchFamily="34" charset="0"/>
            </a:endParaRPr>
          </a:p>
        </p:txBody>
      </p:sp>
      <p:sp>
        <p:nvSpPr>
          <p:cNvPr id="21" name="Shape 18"/>
          <p:cNvSpPr/>
          <p:nvPr/>
        </p:nvSpPr>
        <p:spPr>
          <a:xfrm>
            <a:off x="3669334" y="3054096"/>
            <a:ext cx="457200" cy="0"/>
          </a:xfrm>
          <a:prstGeom prst="line">
            <a:avLst/>
          </a:prstGeom>
          <a:noFill/>
          <a:ln w="17780">
            <a:solidFill>
              <a:srgbClr val="F7B500"/>
            </a:solidFill>
            <a:prstDash val="solid"/>
            <a:tailEnd type="triangle"/>
          </a:ln>
        </p:spPr>
        <p:txBody>
          <a:bodyPr/>
          <a:lstStyle/>
          <a:p>
            <a:endParaRPr lang="en-PH">
              <a:latin typeface="Arial" panose="020B0604020202020204" pitchFamily="34" charset="0"/>
              <a:cs typeface="Arial" panose="020B0604020202020204" pitchFamily="34" charset="0"/>
            </a:endParaRPr>
          </a:p>
        </p:txBody>
      </p:sp>
      <p:sp>
        <p:nvSpPr>
          <p:cNvPr id="22" name="Shape 19"/>
          <p:cNvSpPr/>
          <p:nvPr/>
        </p:nvSpPr>
        <p:spPr>
          <a:xfrm>
            <a:off x="4160520" y="1078992"/>
            <a:ext cx="3182112" cy="4005072"/>
          </a:xfrm>
          <a:prstGeom prst="roundRect">
            <a:avLst>
              <a:gd name="adj" fmla="val 2299"/>
            </a:avLst>
          </a:prstGeom>
          <a:solidFill>
            <a:srgbClr val="FFF3CF"/>
          </a:solidFill>
          <a:ln w="12700">
            <a:solidFill>
              <a:srgbClr val="F7B500"/>
            </a:solidFill>
            <a:prstDash val="solid"/>
          </a:ln>
          <a:effectLst>
            <a:outerShdw blurRad="12700" dist="50800" dir="2700000" algn="bl" rotWithShape="0">
              <a:srgbClr val="9AA9C1">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23" name="Text 20"/>
          <p:cNvSpPr/>
          <p:nvPr/>
        </p:nvSpPr>
        <p:spPr>
          <a:xfrm>
            <a:off x="4379976" y="1408176"/>
            <a:ext cx="1874520" cy="438912"/>
          </a:xfrm>
          <a:prstGeom prst="rect">
            <a:avLst/>
          </a:prstGeom>
          <a:noFill/>
        </p:spPr>
        <p:txBody>
          <a:bodyPr wrap="square" lIns="0" tIns="0" rIns="0" bIns="0" rtlCol="0" anchor="ctr">
            <a:noAutofit/>
          </a:bodyPr>
          <a:lstStyle/>
          <a:p>
            <a:pPr marL="0" indent="0">
              <a:buNone/>
            </a:pPr>
            <a:r>
              <a:rPr lang="en-US" sz="1900" b="1" dirty="0">
                <a:solidFill>
                  <a:srgbClr val="C78B00"/>
                </a:solidFill>
                <a:latin typeface="Arial" panose="020B0604020202020204" pitchFamily="34" charset="0"/>
                <a:ea typeface="Arial" panose="020B0604020202020204" pitchFamily="34" charset="-122"/>
                <a:cs typeface="Arial" panose="020B0604020202020204" pitchFamily="34" charset="0"/>
              </a:rPr>
              <a:t>Pilot</a:t>
            </a:r>
            <a:endParaRPr lang="en-US" sz="1900" dirty="0">
              <a:latin typeface="Arial" panose="020B0604020202020204" pitchFamily="34" charset="0"/>
              <a:cs typeface="Arial" panose="020B0604020202020204" pitchFamily="34" charset="0"/>
            </a:endParaRPr>
          </a:p>
          <a:p>
            <a:pPr marL="0" indent="0">
              <a:buNone/>
            </a:pPr>
            <a:r>
              <a:rPr lang="en-US" sz="1900" b="1" dirty="0">
                <a:solidFill>
                  <a:srgbClr val="C78B00"/>
                </a:solidFill>
                <a:latin typeface="Arial" panose="020B0604020202020204" pitchFamily="34" charset="0"/>
                <a:ea typeface="Arial" panose="020B0604020202020204" pitchFamily="34" charset="-122"/>
                <a:cs typeface="Arial" panose="020B0604020202020204" pitchFamily="34" charset="0"/>
              </a:rPr>
              <a:t>validation</a:t>
            </a:r>
          </a:p>
        </p:txBody>
      </p:sp>
      <p:sp>
        <p:nvSpPr>
          <p:cNvPr id="24" name="Text 21"/>
          <p:cNvSpPr/>
          <p:nvPr/>
        </p:nvSpPr>
        <p:spPr>
          <a:xfrm>
            <a:off x="4389120" y="2048256"/>
            <a:ext cx="2468880" cy="164592"/>
          </a:xfrm>
          <a:prstGeom prst="rect">
            <a:avLst/>
          </a:prstGeom>
          <a:noFill/>
        </p:spPr>
        <p:txBody>
          <a:bodyPr wrap="square" lIns="0" tIns="0" rIns="0" bIns="0" rtlCol="0" anchor="ctr">
            <a:normAutofit/>
          </a:bodyPr>
          <a:lstStyle/>
          <a:p>
            <a:pPr marL="0" indent="0">
              <a:buNone/>
            </a:pPr>
            <a:r>
              <a:rPr lang="en-US" sz="900" b="1" dirty="0">
                <a:solidFill>
                  <a:srgbClr val="5E6F8A"/>
                </a:solidFill>
                <a:latin typeface="Arial" panose="020B0604020202020204" pitchFamily="34" charset="0"/>
                <a:ea typeface="Arial" panose="020B0604020202020204" pitchFamily="34" charset="-122"/>
                <a:cs typeface="Arial" panose="020B0604020202020204" pitchFamily="34" charset="0"/>
              </a:rPr>
              <a:t>Test with real commuters</a:t>
            </a:r>
            <a:endParaRPr lang="en-US" sz="900" dirty="0">
              <a:latin typeface="Arial" panose="020B0604020202020204" pitchFamily="34" charset="0"/>
              <a:cs typeface="Arial" panose="020B0604020202020204" pitchFamily="34" charset="0"/>
            </a:endParaRPr>
          </a:p>
        </p:txBody>
      </p:sp>
      <p:sp>
        <p:nvSpPr>
          <p:cNvPr id="25" name="Shape 22"/>
          <p:cNvSpPr/>
          <p:nvPr/>
        </p:nvSpPr>
        <p:spPr>
          <a:xfrm>
            <a:off x="4425696" y="2578608"/>
            <a:ext cx="91440" cy="91440"/>
          </a:xfrm>
          <a:prstGeom prst="ellipse">
            <a:avLst/>
          </a:prstGeom>
          <a:solidFill>
            <a:srgbClr val="F7B500"/>
          </a:solidFill>
          <a:ln w="12700">
            <a:solidFill>
              <a:srgbClr val="F7B500"/>
            </a:solidFill>
            <a:prstDash val="solid"/>
          </a:ln>
        </p:spPr>
        <p:txBody>
          <a:bodyPr/>
          <a:lstStyle/>
          <a:p>
            <a:endParaRPr lang="en-PH">
              <a:latin typeface="Arial" panose="020B0604020202020204" pitchFamily="34" charset="0"/>
              <a:cs typeface="Arial" panose="020B0604020202020204" pitchFamily="34" charset="0"/>
            </a:endParaRPr>
          </a:p>
        </p:txBody>
      </p:sp>
      <p:sp>
        <p:nvSpPr>
          <p:cNvPr id="26" name="Text 23"/>
          <p:cNvSpPr/>
          <p:nvPr/>
        </p:nvSpPr>
        <p:spPr>
          <a:xfrm>
            <a:off x="4572000" y="2542032"/>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Route, service and accessibility audit</a:t>
            </a:r>
            <a:endParaRPr lang="en-US" sz="820" dirty="0">
              <a:latin typeface="Arial" panose="020B0604020202020204" pitchFamily="34" charset="0"/>
              <a:cs typeface="Arial" panose="020B0604020202020204" pitchFamily="34" charset="0"/>
            </a:endParaRPr>
          </a:p>
        </p:txBody>
      </p:sp>
      <p:sp>
        <p:nvSpPr>
          <p:cNvPr id="27" name="Shape 24"/>
          <p:cNvSpPr/>
          <p:nvPr/>
        </p:nvSpPr>
        <p:spPr>
          <a:xfrm>
            <a:off x="4425696" y="2990088"/>
            <a:ext cx="91440" cy="91440"/>
          </a:xfrm>
          <a:prstGeom prst="ellipse">
            <a:avLst/>
          </a:prstGeom>
          <a:solidFill>
            <a:srgbClr val="F7B500"/>
          </a:solidFill>
          <a:ln w="12700">
            <a:solidFill>
              <a:srgbClr val="F7B500"/>
            </a:solidFill>
            <a:prstDash val="solid"/>
          </a:ln>
        </p:spPr>
        <p:txBody>
          <a:bodyPr/>
          <a:lstStyle/>
          <a:p>
            <a:endParaRPr lang="en-PH">
              <a:latin typeface="Arial" panose="020B0604020202020204" pitchFamily="34" charset="0"/>
              <a:cs typeface="Arial" panose="020B0604020202020204" pitchFamily="34" charset="0"/>
            </a:endParaRPr>
          </a:p>
        </p:txBody>
      </p:sp>
      <p:sp>
        <p:nvSpPr>
          <p:cNvPr id="28" name="Text 25"/>
          <p:cNvSpPr/>
          <p:nvPr/>
        </p:nvSpPr>
        <p:spPr>
          <a:xfrm>
            <a:off x="4572000" y="2953512"/>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Verification-threshold calibration</a:t>
            </a:r>
            <a:endParaRPr lang="en-US" sz="820" dirty="0">
              <a:latin typeface="Arial" panose="020B0604020202020204" pitchFamily="34" charset="0"/>
              <a:cs typeface="Arial" panose="020B0604020202020204" pitchFamily="34" charset="0"/>
            </a:endParaRPr>
          </a:p>
        </p:txBody>
      </p:sp>
      <p:sp>
        <p:nvSpPr>
          <p:cNvPr id="29" name="Shape 26"/>
          <p:cNvSpPr/>
          <p:nvPr/>
        </p:nvSpPr>
        <p:spPr>
          <a:xfrm>
            <a:off x="4425696" y="3401568"/>
            <a:ext cx="91440" cy="91440"/>
          </a:xfrm>
          <a:prstGeom prst="ellipse">
            <a:avLst/>
          </a:prstGeom>
          <a:solidFill>
            <a:srgbClr val="F7B500"/>
          </a:solidFill>
          <a:ln w="12700">
            <a:solidFill>
              <a:srgbClr val="F7B500"/>
            </a:solidFill>
            <a:prstDash val="solid"/>
          </a:ln>
        </p:spPr>
        <p:txBody>
          <a:bodyPr/>
          <a:lstStyle/>
          <a:p>
            <a:endParaRPr lang="en-PH">
              <a:latin typeface="Arial" panose="020B0604020202020204" pitchFamily="34" charset="0"/>
              <a:cs typeface="Arial" panose="020B0604020202020204" pitchFamily="34" charset="0"/>
            </a:endParaRPr>
          </a:p>
        </p:txBody>
      </p:sp>
      <p:sp>
        <p:nvSpPr>
          <p:cNvPr id="30" name="Text 27"/>
          <p:cNvSpPr/>
          <p:nvPr/>
        </p:nvSpPr>
        <p:spPr>
          <a:xfrm>
            <a:off x="4572000" y="3364992"/>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Privacy, consent and data governance</a:t>
            </a:r>
            <a:endParaRPr lang="en-US" sz="820" dirty="0">
              <a:latin typeface="Arial" panose="020B0604020202020204" pitchFamily="34" charset="0"/>
              <a:cs typeface="Arial" panose="020B0604020202020204" pitchFamily="34" charset="0"/>
            </a:endParaRPr>
          </a:p>
        </p:txBody>
      </p:sp>
      <p:sp>
        <p:nvSpPr>
          <p:cNvPr id="32" name="Text 29"/>
          <p:cNvSpPr/>
          <p:nvPr/>
        </p:nvSpPr>
        <p:spPr>
          <a:xfrm>
            <a:off x="4769630" y="3726180"/>
            <a:ext cx="2307825" cy="411479"/>
          </a:xfrm>
          <a:prstGeom prst="rect">
            <a:avLst/>
          </a:prstGeom>
          <a:noFill/>
        </p:spPr>
        <p:txBody>
          <a:bodyPr wrap="square" lIns="0" tIns="0" rIns="0" bIns="0" rtlCol="0" anchor="ctr">
            <a:noAutofit/>
          </a:bodyPr>
          <a:lstStyle/>
          <a:p>
            <a:pPr marL="0" indent="0">
              <a:buNone/>
            </a:pPr>
            <a:r>
              <a:rPr lang="en-US" sz="900" b="1" dirty="0">
                <a:solidFill>
                  <a:schemeClr val="accent1"/>
                </a:solidFill>
                <a:latin typeface="Arial" panose="020B0604020202020204" pitchFamily="34" charset="0"/>
                <a:ea typeface="Arial" panose="020B0604020202020204" pitchFamily="34" charset="-122"/>
                <a:cs typeface="Arial" panose="020B0604020202020204" pitchFamily="34" charset="0"/>
              </a:rPr>
              <a:t>“I’m extremely interested on </a:t>
            </a:r>
            <a:r>
              <a:rPr lang="en-US" sz="900" b="1" dirty="0" err="1">
                <a:solidFill>
                  <a:schemeClr val="accent1"/>
                </a:solidFill>
                <a:latin typeface="Arial" panose="020B0604020202020204" pitchFamily="34" charset="0"/>
                <a:ea typeface="Arial" panose="020B0604020202020204" pitchFamily="34" charset="-122"/>
                <a:cs typeface="Arial" panose="020B0604020202020204" pitchFamily="34" charset="0"/>
              </a:rPr>
              <a:t>Lakbaypoints</a:t>
            </a:r>
            <a:r>
              <a:rPr lang="en-US" sz="900" b="1" dirty="0">
                <a:solidFill>
                  <a:schemeClr val="accent1"/>
                </a:solidFill>
                <a:latin typeface="Arial" panose="020B0604020202020204" pitchFamily="34" charset="0"/>
                <a:ea typeface="Arial" panose="020B0604020202020204" pitchFamily="34" charset="-122"/>
                <a:cs typeface="Arial" panose="020B0604020202020204" pitchFamily="34" charset="0"/>
              </a:rPr>
              <a:t> to track my trips to  gain rewards”</a:t>
            </a:r>
            <a:endParaRPr lang="en-US" sz="900" b="1" dirty="0">
              <a:solidFill>
                <a:schemeClr val="accent1"/>
              </a:solidFill>
              <a:latin typeface="Arial" panose="020B0604020202020204" pitchFamily="34" charset="0"/>
              <a:cs typeface="Arial" panose="020B0604020202020204" pitchFamily="34" charset="0"/>
            </a:endParaRPr>
          </a:p>
        </p:txBody>
      </p:sp>
      <p:sp>
        <p:nvSpPr>
          <p:cNvPr id="33" name="Shape 30"/>
          <p:cNvSpPr/>
          <p:nvPr/>
        </p:nvSpPr>
        <p:spPr>
          <a:xfrm>
            <a:off x="7409230" y="3054096"/>
            <a:ext cx="457200" cy="0"/>
          </a:xfrm>
          <a:prstGeom prst="line">
            <a:avLst/>
          </a:prstGeom>
          <a:noFill/>
          <a:ln w="17780">
            <a:solidFill>
              <a:srgbClr val="F7B500"/>
            </a:solidFill>
            <a:prstDash val="solid"/>
            <a:tailEnd type="triangle"/>
          </a:ln>
        </p:spPr>
        <p:txBody>
          <a:bodyPr/>
          <a:lstStyle/>
          <a:p>
            <a:endParaRPr lang="en-PH">
              <a:latin typeface="Arial" panose="020B0604020202020204" pitchFamily="34" charset="0"/>
              <a:cs typeface="Arial" panose="020B0604020202020204" pitchFamily="34" charset="0"/>
            </a:endParaRPr>
          </a:p>
        </p:txBody>
      </p:sp>
      <p:sp>
        <p:nvSpPr>
          <p:cNvPr id="34" name="Shape 31"/>
          <p:cNvSpPr/>
          <p:nvPr/>
        </p:nvSpPr>
        <p:spPr>
          <a:xfrm>
            <a:off x="7900416" y="1078992"/>
            <a:ext cx="3182112" cy="4005072"/>
          </a:xfrm>
          <a:prstGeom prst="roundRect">
            <a:avLst>
              <a:gd name="adj" fmla="val 2299"/>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latin typeface="Arial" panose="020B0604020202020204" pitchFamily="34" charset="0"/>
              <a:cs typeface="Arial" panose="020B0604020202020204" pitchFamily="34" charset="0"/>
            </a:endParaRPr>
          </a:p>
        </p:txBody>
      </p:sp>
      <p:sp>
        <p:nvSpPr>
          <p:cNvPr id="35" name="Text 32"/>
          <p:cNvSpPr/>
          <p:nvPr/>
        </p:nvSpPr>
        <p:spPr>
          <a:xfrm>
            <a:off x="8119872" y="1408176"/>
            <a:ext cx="1874520" cy="438912"/>
          </a:xfrm>
          <a:prstGeom prst="rect">
            <a:avLst/>
          </a:prstGeom>
          <a:noFill/>
        </p:spPr>
        <p:txBody>
          <a:bodyPr wrap="square" lIns="0" tIns="0" rIns="0" bIns="0" rtlCol="0" anchor="ctr">
            <a:noAutofit/>
          </a:bodyPr>
          <a:lstStyle/>
          <a:p>
            <a:pPr marL="0" indent="0">
              <a:buNone/>
            </a:pPr>
            <a:r>
              <a:rPr lang="en-US" sz="1900" b="1" dirty="0">
                <a:solidFill>
                  <a:srgbClr val="082B7F"/>
                </a:solidFill>
                <a:latin typeface="Arial" panose="020B0604020202020204" pitchFamily="34" charset="0"/>
                <a:ea typeface="Arial" panose="020B0604020202020204" pitchFamily="34" charset="-122"/>
                <a:cs typeface="Arial" panose="020B0604020202020204" pitchFamily="34" charset="0"/>
              </a:rPr>
              <a:t>Corridor</a:t>
            </a:r>
            <a:endParaRPr lang="en-US" sz="1900" dirty="0">
              <a:latin typeface="Arial" panose="020B0604020202020204" pitchFamily="34" charset="0"/>
              <a:cs typeface="Arial" panose="020B0604020202020204" pitchFamily="34" charset="0"/>
            </a:endParaRPr>
          </a:p>
          <a:p>
            <a:pPr marL="0" indent="0">
              <a:buNone/>
            </a:pPr>
            <a:r>
              <a:rPr lang="en-US" sz="1900" b="1" dirty="0">
                <a:solidFill>
                  <a:srgbClr val="082B7F"/>
                </a:solidFill>
                <a:latin typeface="Arial" panose="020B0604020202020204" pitchFamily="34" charset="0"/>
                <a:ea typeface="Arial" panose="020B0604020202020204" pitchFamily="34" charset="-122"/>
                <a:cs typeface="Arial" panose="020B0604020202020204" pitchFamily="34" charset="0"/>
              </a:rPr>
              <a:t>expansion</a:t>
            </a:r>
          </a:p>
        </p:txBody>
      </p:sp>
      <p:sp>
        <p:nvSpPr>
          <p:cNvPr id="36" name="Text 33"/>
          <p:cNvSpPr/>
          <p:nvPr/>
        </p:nvSpPr>
        <p:spPr>
          <a:xfrm>
            <a:off x="8129016" y="2048256"/>
            <a:ext cx="2468880" cy="164592"/>
          </a:xfrm>
          <a:prstGeom prst="rect">
            <a:avLst/>
          </a:prstGeom>
          <a:noFill/>
        </p:spPr>
        <p:txBody>
          <a:bodyPr wrap="square" lIns="0" tIns="0" rIns="0" bIns="0" rtlCol="0" anchor="ctr">
            <a:normAutofit/>
          </a:bodyPr>
          <a:lstStyle/>
          <a:p>
            <a:pPr marL="0" indent="0">
              <a:buNone/>
            </a:pPr>
            <a:r>
              <a:rPr lang="en-US" sz="900" b="1" dirty="0">
                <a:solidFill>
                  <a:srgbClr val="5E6F8A"/>
                </a:solidFill>
                <a:latin typeface="Arial" panose="020B0604020202020204" pitchFamily="34" charset="0"/>
                <a:ea typeface="Arial" panose="020B0604020202020204" pitchFamily="34" charset="-122"/>
                <a:cs typeface="Arial" panose="020B0604020202020204" pitchFamily="34" charset="0"/>
              </a:rPr>
              <a:t>Scale after gates</a:t>
            </a:r>
            <a:endParaRPr lang="en-US" sz="900" dirty="0">
              <a:latin typeface="Arial" panose="020B0604020202020204" pitchFamily="34" charset="0"/>
              <a:cs typeface="Arial" panose="020B0604020202020204" pitchFamily="34" charset="0"/>
            </a:endParaRPr>
          </a:p>
        </p:txBody>
      </p:sp>
      <p:sp>
        <p:nvSpPr>
          <p:cNvPr id="45" name="Shape 42"/>
          <p:cNvSpPr/>
          <p:nvPr/>
        </p:nvSpPr>
        <p:spPr>
          <a:xfrm>
            <a:off x="658368" y="5394960"/>
            <a:ext cx="10881360" cy="749808"/>
          </a:xfrm>
          <a:prstGeom prst="roundRect">
            <a:avLst>
              <a:gd name="adj" fmla="val 7317"/>
            </a:avLst>
          </a:prstGeom>
          <a:solidFill>
            <a:srgbClr val="EEF4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latin typeface="Arial" panose="020B0604020202020204" pitchFamily="34" charset="0"/>
              <a:cs typeface="Arial" panose="020B0604020202020204" pitchFamily="34" charset="0"/>
            </a:endParaRPr>
          </a:p>
        </p:txBody>
      </p:sp>
      <p:sp>
        <p:nvSpPr>
          <p:cNvPr id="46" name="Text 43"/>
          <p:cNvSpPr/>
          <p:nvPr/>
        </p:nvSpPr>
        <p:spPr>
          <a:xfrm>
            <a:off x="841248" y="5577840"/>
            <a:ext cx="10515600" cy="164592"/>
          </a:xfrm>
          <a:prstGeom prst="rect">
            <a:avLst/>
          </a:prstGeom>
          <a:noFill/>
        </p:spPr>
        <p:txBody>
          <a:bodyPr wrap="square" lIns="0" tIns="0" rIns="0" bIns="0" rtlCol="0" anchor="ctr">
            <a:normAutofit/>
          </a:bodyPr>
          <a:lstStyle/>
          <a:p>
            <a:pPr algn="ctr"/>
            <a:r>
              <a:rPr lang="en-US" sz="940" b="1" dirty="0">
                <a:solidFill>
                  <a:srgbClr val="082B7F"/>
                </a:solidFill>
                <a:latin typeface="Arial" panose="020B0604020202020204" pitchFamily="34" charset="0"/>
                <a:ea typeface="Arial" panose="020B0604020202020204" pitchFamily="34" charset="-122"/>
                <a:cs typeface="Arial" panose="020B0604020202020204" pitchFamily="34" charset="0"/>
              </a:rPr>
              <a:t>Demo route: MRT Cubao → MRT-3 Guadalupe (Makati) → Pasig River Ferry→ Hulo Port (Mandaluyong) → Mandaluyong Science HS; subject to route, service and accessibility validation</a:t>
            </a:r>
            <a:endParaRPr lang="en-US" sz="940" dirty="0">
              <a:latin typeface="Arial" panose="020B0604020202020204" pitchFamily="34" charset="0"/>
              <a:cs typeface="Arial" panose="020B0604020202020204" pitchFamily="34" charset="0"/>
            </a:endParaRPr>
          </a:p>
        </p:txBody>
      </p:sp>
      <p:sp>
        <p:nvSpPr>
          <p:cNvPr id="47" name="Text 44"/>
          <p:cNvSpPr/>
          <p:nvPr/>
        </p:nvSpPr>
        <p:spPr>
          <a:xfrm>
            <a:off x="841248" y="5833872"/>
            <a:ext cx="10515600" cy="137160"/>
          </a:xfrm>
          <a:prstGeom prst="rect">
            <a:avLst/>
          </a:prstGeom>
          <a:noFill/>
        </p:spPr>
        <p:txBody>
          <a:bodyPr wrap="square" lIns="0" tIns="0" rIns="0" bIns="0" rtlCol="0" anchor="ctr">
            <a:normAutofit/>
          </a:bodyPr>
          <a:lstStyle/>
          <a:p>
            <a:pPr marL="0" indent="0" algn="ctr">
              <a:buNone/>
            </a:pPr>
            <a:r>
              <a:rPr lang="en-US" sz="750" dirty="0">
                <a:solidFill>
                  <a:srgbClr val="5E6F8A"/>
                </a:solidFill>
                <a:latin typeface="Arial" panose="020B0604020202020204" pitchFamily="34" charset="0"/>
                <a:ea typeface="Arial" panose="020B0604020202020204" pitchFamily="34" charset="-122"/>
                <a:cs typeface="Arial" panose="020B0604020202020204" pitchFamily="34" charset="0"/>
              </a:rPr>
              <a:t>Pilot: 8 weeks after preparation • initial cohort 100–150 • scale gate toward 300 • measures: accuracy, repeat use, report quality, workload and budget</a:t>
            </a:r>
            <a:endParaRPr lang="en-US" sz="750" dirty="0">
              <a:latin typeface="Arial" panose="020B0604020202020204" pitchFamily="34" charset="0"/>
              <a:cs typeface="Arial" panose="020B0604020202020204" pitchFamily="34" charset="0"/>
            </a:endParaRPr>
          </a:p>
        </p:txBody>
      </p:sp>
      <p:sp>
        <p:nvSpPr>
          <p:cNvPr id="48" name="Text 45"/>
          <p:cNvSpPr/>
          <p:nvPr/>
        </p:nvSpPr>
        <p:spPr>
          <a:xfrm>
            <a:off x="987552" y="6345936"/>
            <a:ext cx="10149840" cy="91440"/>
          </a:xfrm>
          <a:prstGeom prst="rect">
            <a:avLst/>
          </a:prstGeom>
          <a:noFill/>
        </p:spPr>
        <p:txBody>
          <a:bodyPr wrap="square" lIns="0" tIns="0" rIns="0" bIns="0" rtlCol="0" anchor="ctr">
            <a:normAutofit lnSpcReduction="10000"/>
          </a:bodyPr>
          <a:lstStyle/>
          <a:p>
            <a:pPr marL="0" indent="0" algn="ctr">
              <a:buNone/>
            </a:pPr>
            <a:r>
              <a:rPr lang="en-US" sz="660" b="1" dirty="0">
                <a:solidFill>
                  <a:srgbClr val="C78B00"/>
                </a:solidFill>
                <a:latin typeface="Arial" panose="020B0604020202020204" pitchFamily="34" charset="0"/>
                <a:ea typeface="Arial" panose="020B0604020202020204" pitchFamily="34" charset="-122"/>
                <a:cs typeface="Arial" panose="020B0604020202020204" pitchFamily="34" charset="0"/>
              </a:rPr>
              <a:t>Funding path: pre-funded mobility campaigns with capped participant and campaign rewards.</a:t>
            </a:r>
            <a:endParaRPr lang="en-US" sz="660" dirty="0">
              <a:latin typeface="Arial" panose="020B0604020202020204" pitchFamily="34" charset="0"/>
              <a:cs typeface="Arial" panose="020B0604020202020204" pitchFamily="34" charset="0"/>
            </a:endParaRPr>
          </a:p>
        </p:txBody>
      </p:sp>
      <p:pic>
        <p:nvPicPr>
          <p:cNvPr id="50" name="Picture 49">
            <a:extLst>
              <a:ext uri="{FF2B5EF4-FFF2-40B4-BE49-F238E27FC236}">
                <a16:creationId xmlns:a16="http://schemas.microsoft.com/office/drawing/2014/main" id="{9D60B2DB-5614-80C3-3EB2-76D1D6918C42}"/>
              </a:ext>
            </a:extLst>
          </p:cNvPr>
          <p:cNvPicPr>
            <a:picLocks noChangeAspect="1"/>
          </p:cNvPicPr>
          <p:nvPr/>
        </p:nvPicPr>
        <p:blipFill>
          <a:blip r:embed="rId4">
            <a:duotone>
              <a:schemeClr val="accent1">
                <a:shade val="45000"/>
                <a:satMod val="135000"/>
              </a:schemeClr>
              <a:prstClr val="white"/>
            </a:duotone>
          </a:blip>
          <a:stretch>
            <a:fillRect/>
          </a:stretch>
        </p:blipFill>
        <p:spPr>
          <a:xfrm>
            <a:off x="4389120" y="3766293"/>
            <a:ext cx="276390" cy="276390"/>
          </a:xfrm>
          <a:prstGeom prst="rect">
            <a:avLst/>
          </a:prstGeom>
        </p:spPr>
      </p:pic>
      <p:pic>
        <p:nvPicPr>
          <p:cNvPr id="52" name="Picture 51">
            <a:extLst>
              <a:ext uri="{FF2B5EF4-FFF2-40B4-BE49-F238E27FC236}">
                <a16:creationId xmlns:a16="http://schemas.microsoft.com/office/drawing/2014/main" id="{1C58BC6E-30CF-ACC8-8307-C4A938D1B89F}"/>
              </a:ext>
            </a:extLst>
          </p:cNvPr>
          <p:cNvPicPr>
            <a:picLocks noChangeAspect="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artisticGlowEdges/>
                    </a14:imgEffect>
                    <a14:imgEffect>
                      <a14:colorTemperature colorTemp="4700"/>
                    </a14:imgEffect>
                    <a14:imgEffect>
                      <a14:saturation sat="0"/>
                    </a14:imgEffect>
                  </a14:imgLayer>
                </a14:imgProps>
              </a:ext>
            </a:extLst>
          </a:blip>
          <a:stretch>
            <a:fillRect/>
          </a:stretch>
        </p:blipFill>
        <p:spPr>
          <a:xfrm>
            <a:off x="4378941" y="4228063"/>
            <a:ext cx="276390" cy="276390"/>
          </a:xfrm>
          <a:prstGeom prst="rect">
            <a:avLst/>
          </a:prstGeom>
        </p:spPr>
      </p:pic>
      <p:sp>
        <p:nvSpPr>
          <p:cNvPr id="54" name="Text 29">
            <a:extLst>
              <a:ext uri="{FF2B5EF4-FFF2-40B4-BE49-F238E27FC236}">
                <a16:creationId xmlns:a16="http://schemas.microsoft.com/office/drawing/2014/main" id="{CA809491-B6B9-BBF7-E84D-155C4420EC4A}"/>
              </a:ext>
            </a:extLst>
          </p:cNvPr>
          <p:cNvSpPr/>
          <p:nvPr/>
        </p:nvSpPr>
        <p:spPr>
          <a:xfrm>
            <a:off x="4769631" y="4165867"/>
            <a:ext cx="2307825" cy="411479"/>
          </a:xfrm>
          <a:prstGeom prst="rect">
            <a:avLst/>
          </a:prstGeom>
          <a:noFill/>
        </p:spPr>
        <p:txBody>
          <a:bodyPr wrap="square" lIns="0" tIns="0" rIns="0" bIns="0" rtlCol="0" anchor="ctr">
            <a:noAutofit/>
          </a:bodyPr>
          <a:lstStyle/>
          <a:p>
            <a:pPr algn="just"/>
            <a:r>
              <a:rPr lang="en-US" sz="900" b="1" dirty="0">
                <a:solidFill>
                  <a:schemeClr val="accent2">
                    <a:lumMod val="75000"/>
                  </a:schemeClr>
                </a:solidFill>
                <a:latin typeface="Arial" panose="020B0604020202020204" pitchFamily="34" charset="0"/>
                <a:cs typeface="Arial" panose="020B0604020202020204" pitchFamily="34" charset="0"/>
              </a:rPr>
              <a:t>“</a:t>
            </a:r>
            <a:r>
              <a:rPr lang="en-PH" sz="900" b="1" dirty="0">
                <a:solidFill>
                  <a:schemeClr val="accent2">
                    <a:lumMod val="75000"/>
                  </a:schemeClr>
                </a:solidFill>
                <a:latin typeface="Arial" panose="020B0604020202020204" pitchFamily="34" charset="0"/>
                <a:cs typeface="Arial" panose="020B0604020202020204" pitchFamily="34" charset="0"/>
              </a:rPr>
              <a:t>The feature that detects whether you walk or commute, I can use daily as route planner to ensure quality trip</a:t>
            </a:r>
            <a:r>
              <a:rPr lang="en-US" sz="900" b="1" dirty="0">
                <a:solidFill>
                  <a:schemeClr val="accent2">
                    <a:lumMod val="75000"/>
                  </a:schemeClr>
                </a:solidFill>
                <a:latin typeface="Arial" panose="020B0604020202020204" pitchFamily="34" charset="0"/>
                <a:cs typeface="Arial" panose="020B0604020202020204" pitchFamily="34" charset="0"/>
              </a:rPr>
              <a:t>”</a:t>
            </a:r>
          </a:p>
        </p:txBody>
      </p:sp>
      <p:sp>
        <p:nvSpPr>
          <p:cNvPr id="56" name="Shape 19">
            <a:extLst>
              <a:ext uri="{FF2B5EF4-FFF2-40B4-BE49-F238E27FC236}">
                <a16:creationId xmlns:a16="http://schemas.microsoft.com/office/drawing/2014/main" id="{0651AF3C-79A7-93CC-5A51-0712D9080B88}"/>
              </a:ext>
            </a:extLst>
          </p:cNvPr>
          <p:cNvSpPr/>
          <p:nvPr/>
        </p:nvSpPr>
        <p:spPr>
          <a:xfrm>
            <a:off x="630809" y="2315718"/>
            <a:ext cx="2516172" cy="1458468"/>
          </a:xfrm>
          <a:prstGeom prst="roundRect">
            <a:avLst>
              <a:gd name="adj" fmla="val 2299"/>
            </a:avLst>
          </a:prstGeom>
          <a:solidFill>
            <a:schemeClr val="accent5">
              <a:lumMod val="40000"/>
              <a:lumOff val="60000"/>
            </a:schemeClr>
          </a:solidFill>
          <a:ln w="12700">
            <a:solidFill>
              <a:schemeClr val="accent1"/>
            </a:solidFill>
            <a:prstDash val="solid"/>
          </a:ln>
          <a:effectLst>
            <a:outerShdw blurRad="12700" dist="50800" dir="2700000" algn="bl" rotWithShape="0">
              <a:srgbClr val="9AA9C1">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13" name="Shape 10"/>
          <p:cNvSpPr/>
          <p:nvPr/>
        </p:nvSpPr>
        <p:spPr>
          <a:xfrm>
            <a:off x="800100" y="2578608"/>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14" name="Text 11"/>
          <p:cNvSpPr/>
          <p:nvPr/>
        </p:nvSpPr>
        <p:spPr>
          <a:xfrm>
            <a:off x="946404" y="2542032"/>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Mobile journey workflow</a:t>
            </a:r>
            <a:endParaRPr lang="en-US" sz="820" dirty="0">
              <a:latin typeface="Arial" panose="020B0604020202020204" pitchFamily="34" charset="0"/>
              <a:cs typeface="Arial" panose="020B0604020202020204" pitchFamily="34" charset="0"/>
            </a:endParaRPr>
          </a:p>
        </p:txBody>
      </p:sp>
      <p:sp>
        <p:nvSpPr>
          <p:cNvPr id="15" name="Shape 12"/>
          <p:cNvSpPr/>
          <p:nvPr/>
        </p:nvSpPr>
        <p:spPr>
          <a:xfrm>
            <a:off x="800100" y="2990088"/>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16" name="Text 13"/>
          <p:cNvSpPr/>
          <p:nvPr/>
        </p:nvSpPr>
        <p:spPr>
          <a:xfrm>
            <a:off x="946404" y="2953512"/>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Rule-based trip-integrity checks</a:t>
            </a:r>
            <a:endParaRPr lang="en-US" sz="820" dirty="0">
              <a:latin typeface="Arial" panose="020B0604020202020204" pitchFamily="34" charset="0"/>
              <a:cs typeface="Arial" panose="020B0604020202020204" pitchFamily="34" charset="0"/>
            </a:endParaRPr>
          </a:p>
        </p:txBody>
      </p:sp>
      <p:sp>
        <p:nvSpPr>
          <p:cNvPr id="17" name="Shape 14"/>
          <p:cNvSpPr/>
          <p:nvPr/>
        </p:nvSpPr>
        <p:spPr>
          <a:xfrm>
            <a:off x="800100" y="3401568"/>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18" name="Text 15"/>
          <p:cNvSpPr/>
          <p:nvPr/>
        </p:nvSpPr>
        <p:spPr>
          <a:xfrm>
            <a:off x="946404" y="3364992"/>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Conditional reward logic</a:t>
            </a:r>
            <a:endParaRPr lang="en-US" sz="820" dirty="0">
              <a:latin typeface="Arial" panose="020B0604020202020204" pitchFamily="34" charset="0"/>
              <a:cs typeface="Arial" panose="020B0604020202020204" pitchFamily="34" charset="0"/>
            </a:endParaRPr>
          </a:p>
        </p:txBody>
      </p:sp>
      <p:sp>
        <p:nvSpPr>
          <p:cNvPr id="60" name="Shape 19">
            <a:extLst>
              <a:ext uri="{FF2B5EF4-FFF2-40B4-BE49-F238E27FC236}">
                <a16:creationId xmlns:a16="http://schemas.microsoft.com/office/drawing/2014/main" id="{D32C80D0-E3E4-F710-2E6A-CDF6AB4B872D}"/>
              </a:ext>
            </a:extLst>
          </p:cNvPr>
          <p:cNvSpPr/>
          <p:nvPr/>
        </p:nvSpPr>
        <p:spPr>
          <a:xfrm>
            <a:off x="628850" y="3854196"/>
            <a:ext cx="2516172" cy="1083564"/>
          </a:xfrm>
          <a:prstGeom prst="roundRect">
            <a:avLst>
              <a:gd name="adj" fmla="val 2299"/>
            </a:avLst>
          </a:prstGeom>
          <a:solidFill>
            <a:schemeClr val="accent5">
              <a:lumMod val="40000"/>
              <a:lumOff val="60000"/>
            </a:schemeClr>
          </a:solidFill>
          <a:ln w="12700">
            <a:solidFill>
              <a:schemeClr val="accent1"/>
            </a:solidFill>
            <a:prstDash val="solid"/>
          </a:ln>
          <a:effectLst>
            <a:outerShdw blurRad="12700" dist="50800" dir="2700000" algn="bl" rotWithShape="0">
              <a:srgbClr val="9AA9C1">
                <a:alpha val="12000"/>
              </a:srgbClr>
            </a:outerShdw>
          </a:effectLst>
        </p:spPr>
        <p:txBody>
          <a:bodyPr/>
          <a:lstStyle/>
          <a:p>
            <a:endParaRPr lang="en-US">
              <a:latin typeface="Arial" panose="020B0604020202020204" pitchFamily="34" charset="0"/>
              <a:cs typeface="Arial" panose="020B0604020202020204" pitchFamily="34" charset="0"/>
            </a:endParaRPr>
          </a:p>
        </p:txBody>
      </p:sp>
      <p:sp>
        <p:nvSpPr>
          <p:cNvPr id="19" name="Shape 16"/>
          <p:cNvSpPr/>
          <p:nvPr/>
        </p:nvSpPr>
        <p:spPr>
          <a:xfrm>
            <a:off x="1905000" y="4052316"/>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20" name="Text 17"/>
          <p:cNvSpPr/>
          <p:nvPr/>
        </p:nvSpPr>
        <p:spPr>
          <a:xfrm>
            <a:off x="2051304" y="4015740"/>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Access reporting</a:t>
            </a:r>
            <a:endParaRPr lang="en-US" sz="820" dirty="0">
              <a:latin typeface="Arial" panose="020B0604020202020204" pitchFamily="34" charset="0"/>
              <a:cs typeface="Arial" panose="020B0604020202020204" pitchFamily="34" charset="0"/>
            </a:endParaRPr>
          </a:p>
        </p:txBody>
      </p:sp>
      <p:pic>
        <p:nvPicPr>
          <p:cNvPr id="53" name="Picture 52" descr="Screenshot 2026-07-31 162631-left">
            <a:extLst>
              <a:ext uri="{FF2B5EF4-FFF2-40B4-BE49-F238E27FC236}">
                <a16:creationId xmlns:a16="http://schemas.microsoft.com/office/drawing/2014/main" id="{0879B10B-D934-6914-4694-51F520F078FA}"/>
              </a:ext>
            </a:extLst>
          </p:cNvPr>
          <p:cNvPicPr>
            <a:picLocks noChangeAspect="1"/>
          </p:cNvPicPr>
          <p:nvPr/>
        </p:nvPicPr>
        <p:blipFill>
          <a:blip r:embed="rId7"/>
          <a:stretch>
            <a:fillRect/>
          </a:stretch>
        </p:blipFill>
        <p:spPr>
          <a:xfrm flipH="1">
            <a:off x="-1857999" y="2627583"/>
            <a:ext cx="1552701" cy="1532418"/>
          </a:xfrm>
          <a:prstGeom prst="rect">
            <a:avLst/>
          </a:prstGeom>
        </p:spPr>
      </p:pic>
      <p:sp>
        <p:nvSpPr>
          <p:cNvPr id="68" name="Shape 16">
            <a:extLst>
              <a:ext uri="{FF2B5EF4-FFF2-40B4-BE49-F238E27FC236}">
                <a16:creationId xmlns:a16="http://schemas.microsoft.com/office/drawing/2014/main" id="{8C3E9FA3-3CD0-4048-FFBE-762B361EA722}"/>
              </a:ext>
            </a:extLst>
          </p:cNvPr>
          <p:cNvSpPr/>
          <p:nvPr/>
        </p:nvSpPr>
        <p:spPr>
          <a:xfrm>
            <a:off x="1905000" y="4419406"/>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70" name="Text 17">
            <a:extLst>
              <a:ext uri="{FF2B5EF4-FFF2-40B4-BE49-F238E27FC236}">
                <a16:creationId xmlns:a16="http://schemas.microsoft.com/office/drawing/2014/main" id="{9228E8EE-025D-4045-6888-DF57F707367D}"/>
              </a:ext>
            </a:extLst>
          </p:cNvPr>
          <p:cNvSpPr/>
          <p:nvPr/>
        </p:nvSpPr>
        <p:spPr>
          <a:xfrm>
            <a:off x="2051304" y="4382830"/>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Simulated dashboard</a:t>
            </a:r>
            <a:endParaRPr lang="en-US" sz="820" dirty="0">
              <a:latin typeface="Arial" panose="020B0604020202020204" pitchFamily="34" charset="0"/>
              <a:cs typeface="Arial" panose="020B0604020202020204" pitchFamily="34" charset="0"/>
            </a:endParaRPr>
          </a:p>
        </p:txBody>
      </p:sp>
      <p:sp>
        <p:nvSpPr>
          <p:cNvPr id="76" name="Shape 19">
            <a:extLst>
              <a:ext uri="{FF2B5EF4-FFF2-40B4-BE49-F238E27FC236}">
                <a16:creationId xmlns:a16="http://schemas.microsoft.com/office/drawing/2014/main" id="{F1B60BD5-AFE8-B427-7DCF-5ACB4010249E}"/>
              </a:ext>
            </a:extLst>
          </p:cNvPr>
          <p:cNvSpPr/>
          <p:nvPr/>
        </p:nvSpPr>
        <p:spPr>
          <a:xfrm>
            <a:off x="8129016" y="2416921"/>
            <a:ext cx="2682748" cy="1137012"/>
          </a:xfrm>
          <a:prstGeom prst="roundRect">
            <a:avLst>
              <a:gd name="adj" fmla="val 2299"/>
            </a:avLst>
          </a:prstGeom>
          <a:solidFill>
            <a:schemeClr val="accent5">
              <a:lumMod val="40000"/>
              <a:lumOff val="60000"/>
            </a:schemeClr>
          </a:solidFill>
          <a:ln w="12700">
            <a:solidFill>
              <a:schemeClr val="accent1"/>
            </a:solidFill>
            <a:prstDash val="solid"/>
          </a:ln>
          <a:effectLst>
            <a:outerShdw blurRad="12700" dist="50800" dir="2700000" algn="bl" rotWithShape="0">
              <a:srgbClr val="9AA9C1">
                <a:alpha val="12000"/>
              </a:srgbClr>
            </a:outerShdw>
          </a:effectLst>
        </p:spPr>
        <p:txBody>
          <a:bodyPr/>
          <a:lstStyle/>
          <a:p>
            <a:r>
              <a:rPr lang="en-US" dirty="0">
                <a:latin typeface="Arial" panose="020B0604020202020204" pitchFamily="34" charset="0"/>
                <a:cs typeface="Arial" panose="020B0604020202020204" pitchFamily="34" charset="0"/>
              </a:rPr>
              <a:t> </a:t>
            </a:r>
          </a:p>
        </p:txBody>
      </p:sp>
      <p:sp>
        <p:nvSpPr>
          <p:cNvPr id="37" name="Shape 34"/>
          <p:cNvSpPr/>
          <p:nvPr/>
        </p:nvSpPr>
        <p:spPr>
          <a:xfrm>
            <a:off x="8190992" y="2578608"/>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38" name="Text 35"/>
          <p:cNvSpPr/>
          <p:nvPr/>
        </p:nvSpPr>
        <p:spPr>
          <a:xfrm>
            <a:off x="8337296" y="2542032"/>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Validated corridor profile</a:t>
            </a:r>
            <a:endParaRPr lang="en-US" sz="820" dirty="0">
              <a:latin typeface="Arial" panose="020B0604020202020204" pitchFamily="34" charset="0"/>
              <a:cs typeface="Arial" panose="020B0604020202020204" pitchFamily="34" charset="0"/>
            </a:endParaRPr>
          </a:p>
        </p:txBody>
      </p:sp>
      <p:sp>
        <p:nvSpPr>
          <p:cNvPr id="39" name="Shape 36"/>
          <p:cNvSpPr/>
          <p:nvPr/>
        </p:nvSpPr>
        <p:spPr>
          <a:xfrm>
            <a:off x="8190992" y="2845709"/>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40" name="Text 37"/>
          <p:cNvSpPr/>
          <p:nvPr/>
        </p:nvSpPr>
        <p:spPr>
          <a:xfrm>
            <a:off x="8337296" y="2809133"/>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Additional routes after calibration</a:t>
            </a:r>
            <a:endParaRPr lang="en-US" sz="820" dirty="0">
              <a:latin typeface="Arial" panose="020B0604020202020204" pitchFamily="34" charset="0"/>
              <a:cs typeface="Arial" panose="020B0604020202020204" pitchFamily="34" charset="0"/>
            </a:endParaRPr>
          </a:p>
        </p:txBody>
      </p:sp>
      <p:sp>
        <p:nvSpPr>
          <p:cNvPr id="41" name="Shape 38"/>
          <p:cNvSpPr/>
          <p:nvPr/>
        </p:nvSpPr>
        <p:spPr>
          <a:xfrm>
            <a:off x="8193990" y="3091541"/>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42" name="Text 39"/>
          <p:cNvSpPr/>
          <p:nvPr/>
        </p:nvSpPr>
        <p:spPr>
          <a:xfrm>
            <a:off x="8340294" y="3054965"/>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Operator / LGU / institutional coordination</a:t>
            </a:r>
            <a:endParaRPr lang="en-US" sz="820" dirty="0">
              <a:latin typeface="Arial" panose="020B0604020202020204" pitchFamily="34" charset="0"/>
              <a:cs typeface="Arial" panose="020B0604020202020204" pitchFamily="34" charset="0"/>
            </a:endParaRPr>
          </a:p>
        </p:txBody>
      </p:sp>
      <p:sp>
        <p:nvSpPr>
          <p:cNvPr id="43" name="Shape 40"/>
          <p:cNvSpPr/>
          <p:nvPr/>
        </p:nvSpPr>
        <p:spPr>
          <a:xfrm>
            <a:off x="8193990" y="3327309"/>
            <a:ext cx="91440" cy="91440"/>
          </a:xfrm>
          <a:prstGeom prst="ellipse">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44" name="Text 41"/>
          <p:cNvSpPr/>
          <p:nvPr/>
        </p:nvSpPr>
        <p:spPr>
          <a:xfrm>
            <a:off x="8340294" y="3290733"/>
            <a:ext cx="2505456" cy="155448"/>
          </a:xfrm>
          <a:prstGeom prst="rect">
            <a:avLst/>
          </a:prstGeom>
          <a:noFill/>
        </p:spPr>
        <p:txBody>
          <a:bodyPr wrap="square" lIns="0" tIns="0" rIns="0" bIns="0" rtlCol="0" anchor="ctr">
            <a:normAutofit/>
          </a:bodyPr>
          <a:lstStyle/>
          <a:p>
            <a:pPr marL="0" indent="0">
              <a:buNone/>
            </a:pPr>
            <a:r>
              <a:rPr lang="en-US" sz="820" dirty="0">
                <a:solidFill>
                  <a:srgbClr val="14213D"/>
                </a:solidFill>
                <a:latin typeface="Arial" panose="020B0604020202020204" pitchFamily="34" charset="0"/>
                <a:ea typeface="Arial" panose="020B0604020202020204" pitchFamily="34" charset="-122"/>
                <a:cs typeface="Arial" panose="020B0604020202020204" pitchFamily="34" charset="0"/>
              </a:rPr>
              <a:t>Capped campaign budgets and governance approval</a:t>
            </a:r>
            <a:endParaRPr lang="en-US" sz="820" dirty="0">
              <a:latin typeface="Arial" panose="020B0604020202020204" pitchFamily="34" charset="0"/>
              <a:cs typeface="Arial" panose="020B0604020202020204" pitchFamily="34" charset="0"/>
            </a:endParaRPr>
          </a:p>
        </p:txBody>
      </p:sp>
      <p:pic>
        <p:nvPicPr>
          <p:cNvPr id="61" name="Picture 60">
            <a:extLst>
              <a:ext uri="{FF2B5EF4-FFF2-40B4-BE49-F238E27FC236}">
                <a16:creationId xmlns:a16="http://schemas.microsoft.com/office/drawing/2014/main" id="{C7BC4BBE-1EDD-FE7F-98DF-07CD32C5400D}"/>
              </a:ext>
            </a:extLst>
          </p:cNvPr>
          <p:cNvPicPr>
            <a:picLocks noChangeAspect="1"/>
          </p:cNvPicPr>
          <p:nvPr/>
        </p:nvPicPr>
        <p:blipFill>
          <a:blip r:embed="rId8"/>
          <a:stretch>
            <a:fillRect/>
          </a:stretch>
        </p:blipFill>
        <p:spPr>
          <a:xfrm>
            <a:off x="420624" y="3531161"/>
            <a:ext cx="1609309" cy="1515383"/>
          </a:xfrm>
          <a:prstGeom prst="rect">
            <a:avLst/>
          </a:prstGeom>
        </p:spPr>
      </p:pic>
      <p:pic>
        <p:nvPicPr>
          <p:cNvPr id="49" name="Picture 48">
            <a:extLst>
              <a:ext uri="{FF2B5EF4-FFF2-40B4-BE49-F238E27FC236}">
                <a16:creationId xmlns:a16="http://schemas.microsoft.com/office/drawing/2014/main" id="{B6D9D0C3-CFFB-83D0-0F82-87A0EEC1C8B3}"/>
              </a:ext>
            </a:extLst>
          </p:cNvPr>
          <p:cNvPicPr>
            <a:picLocks noChangeAspect="1"/>
          </p:cNvPicPr>
          <p:nvPr/>
        </p:nvPicPr>
        <p:blipFill>
          <a:blip r:embed="rId9"/>
          <a:stretch>
            <a:fillRect/>
          </a:stretch>
        </p:blipFill>
        <p:spPr>
          <a:xfrm>
            <a:off x="2243497" y="2156436"/>
            <a:ext cx="1109751" cy="1850183"/>
          </a:xfrm>
          <a:prstGeom prst="rect">
            <a:avLst/>
          </a:prstGeom>
        </p:spPr>
      </p:pic>
      <p:pic>
        <p:nvPicPr>
          <p:cNvPr id="31" name="Picture 30" descr="Open photo">
            <a:extLst>
              <a:ext uri="{FF2B5EF4-FFF2-40B4-BE49-F238E27FC236}">
                <a16:creationId xmlns:a16="http://schemas.microsoft.com/office/drawing/2014/main" id="{9C37C573-0168-01D0-0B70-627318DA6638}"/>
              </a:ext>
            </a:extLst>
          </p:cNvPr>
          <p:cNvPicPr>
            <a:picLocks noChangeAspect="1"/>
          </p:cNvPicPr>
          <p:nvPr/>
        </p:nvPicPr>
        <p:blipFill>
          <a:blip r:embed="rId10"/>
          <a:stretch>
            <a:fillRect/>
          </a:stretch>
        </p:blipFill>
        <p:spPr>
          <a:xfrm>
            <a:off x="8190991" y="3639880"/>
            <a:ext cx="2581783" cy="12978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F"/>
        </a:solidFill>
        <a:effectLst/>
      </p:bgPr>
    </p:bg>
    <p:spTree>
      <p:nvGrpSpPr>
        <p:cNvPr id="1" name=""/>
        <p:cNvGrpSpPr/>
        <p:nvPr/>
      </p:nvGrpSpPr>
      <p:grpSpPr>
        <a:xfrm>
          <a:off x="0" y="0"/>
          <a:ext cx="0" cy="0"/>
          <a:chOff x="0" y="0"/>
          <a:chExt cx="0" cy="0"/>
        </a:xfrm>
      </p:grpSpPr>
      <p:pic>
        <p:nvPicPr>
          <p:cNvPr id="2" name="Image 0" descr="/mnt/data/pptx_extract/ppt/media/image1.png"/>
          <p:cNvPicPr>
            <a:picLocks noChangeAspect="1"/>
          </p:cNvPicPr>
          <p:nvPr/>
        </p:nvPicPr>
        <p:blipFill>
          <a:blip r:embed="rId3"/>
          <a:stretch>
            <a:fillRect/>
          </a:stretch>
        </p:blipFill>
        <p:spPr>
          <a:xfrm>
            <a:off x="210312" y="118872"/>
            <a:ext cx="1261872" cy="402336"/>
          </a:xfrm>
          <a:prstGeom prst="rect">
            <a:avLst/>
          </a:prstGeom>
        </p:spPr>
      </p:pic>
      <p:sp>
        <p:nvSpPr>
          <p:cNvPr id="3" name="Text 0"/>
          <p:cNvSpPr/>
          <p:nvPr/>
        </p:nvSpPr>
        <p:spPr>
          <a:xfrm>
            <a:off x="1572768" y="36576"/>
            <a:ext cx="6035040" cy="292608"/>
          </a:xfrm>
          <a:prstGeom prst="rect">
            <a:avLst/>
          </a:prstGeom>
          <a:noFill/>
        </p:spPr>
        <p:txBody>
          <a:bodyPr wrap="square" lIns="0" tIns="0" rIns="0" bIns="0" rtlCol="0" anchor="ctr">
            <a:normAutofit fontScale="92500" lnSpcReduction="10000"/>
          </a:bodyPr>
          <a:lstStyle/>
          <a:p>
            <a:pPr marL="0" indent="0">
              <a:buNone/>
            </a:pPr>
            <a:r>
              <a:rPr lang="en-US" sz="2250" b="1" dirty="0">
                <a:solidFill>
                  <a:srgbClr val="082B7F"/>
                </a:solidFill>
                <a:latin typeface="Arial" panose="020B0604020202020204" pitchFamily="34" charset="0"/>
                <a:ea typeface="Arial" panose="020B0604020202020204" pitchFamily="34" charset="-122"/>
                <a:cs typeface="Arial" panose="020B0604020202020204" pitchFamily="34" charset="0"/>
              </a:rPr>
              <a:t>Team Profile</a:t>
            </a:r>
            <a:endParaRPr lang="en-US" sz="2250" dirty="0">
              <a:latin typeface="Arial" panose="020B0604020202020204" pitchFamily="34" charset="0"/>
              <a:cs typeface="Arial" panose="020B0604020202020204" pitchFamily="34" charset="0"/>
            </a:endParaRPr>
          </a:p>
        </p:txBody>
      </p:sp>
      <p:sp>
        <p:nvSpPr>
          <p:cNvPr id="4" name="Text 1"/>
          <p:cNvSpPr/>
          <p:nvPr/>
        </p:nvSpPr>
        <p:spPr>
          <a:xfrm>
            <a:off x="1581912" y="329184"/>
            <a:ext cx="7269480" cy="182880"/>
          </a:xfrm>
          <a:prstGeom prst="rect">
            <a:avLst/>
          </a:prstGeom>
          <a:noFill/>
        </p:spPr>
        <p:txBody>
          <a:bodyPr wrap="square" lIns="0" tIns="0" rIns="0" bIns="0" rtlCol="0" anchor="ctr">
            <a:normAutofit/>
          </a:bodyPr>
          <a:lstStyle/>
          <a:p>
            <a:pPr marL="0" indent="0">
              <a:buNone/>
            </a:pPr>
            <a:r>
              <a:rPr lang="en-US" sz="850" dirty="0">
                <a:solidFill>
                  <a:srgbClr val="5E6F8A"/>
                </a:solidFill>
                <a:latin typeface="Arial" panose="020B0604020202020204" pitchFamily="34" charset="0"/>
                <a:ea typeface="Arial" panose="020B0604020202020204" pitchFamily="34" charset="-122"/>
                <a:cs typeface="Arial" panose="020B0604020202020204" pitchFamily="34" charset="0"/>
              </a:rPr>
              <a:t>A multidisciplinary CSU team for transport innovation, software, multimedia and technical guidance.</a:t>
            </a:r>
            <a:endParaRPr lang="en-US" sz="850" dirty="0">
              <a:latin typeface="Arial" panose="020B0604020202020204" pitchFamily="34" charset="0"/>
              <a:cs typeface="Arial" panose="020B0604020202020204" pitchFamily="34" charset="0"/>
            </a:endParaRPr>
          </a:p>
        </p:txBody>
      </p:sp>
      <p:sp>
        <p:nvSpPr>
          <p:cNvPr id="5" name="Shape 2"/>
          <p:cNvSpPr/>
          <p:nvPr/>
        </p:nvSpPr>
        <p:spPr>
          <a:xfrm>
            <a:off x="201168" y="630936"/>
            <a:ext cx="3429000" cy="22860"/>
          </a:xfrm>
          <a:prstGeom prst="rect">
            <a:avLst/>
          </a:prstGeom>
          <a:solidFill>
            <a:srgbClr val="0036B8"/>
          </a:solidFill>
          <a:ln w="1270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sp>
        <p:nvSpPr>
          <p:cNvPr id="6" name="Shape 3"/>
          <p:cNvSpPr/>
          <p:nvPr/>
        </p:nvSpPr>
        <p:spPr>
          <a:xfrm>
            <a:off x="7159752" y="630936"/>
            <a:ext cx="685800" cy="22860"/>
          </a:xfrm>
          <a:prstGeom prst="rect">
            <a:avLst/>
          </a:prstGeom>
          <a:solidFill>
            <a:srgbClr val="F7B500"/>
          </a:solidFill>
          <a:ln w="12700">
            <a:solidFill>
              <a:srgbClr val="F7B500"/>
            </a:solidFill>
            <a:prstDash val="solid"/>
          </a:ln>
        </p:spPr>
        <p:txBody>
          <a:bodyPr/>
          <a:lstStyle/>
          <a:p>
            <a:endParaRPr lang="en-PH">
              <a:latin typeface="Arial" panose="020B0604020202020204" pitchFamily="34" charset="0"/>
              <a:cs typeface="Arial" panose="020B0604020202020204" pitchFamily="34" charset="0"/>
            </a:endParaRPr>
          </a:p>
        </p:txBody>
      </p:sp>
      <p:sp>
        <p:nvSpPr>
          <p:cNvPr id="7" name="Text 4"/>
          <p:cNvSpPr/>
          <p:nvPr/>
        </p:nvSpPr>
        <p:spPr>
          <a:xfrm>
            <a:off x="11018520" y="118872"/>
            <a:ext cx="566928" cy="164592"/>
          </a:xfrm>
          <a:prstGeom prst="rect">
            <a:avLst/>
          </a:prstGeom>
          <a:noFill/>
        </p:spPr>
        <p:txBody>
          <a:bodyPr wrap="square" lIns="0" tIns="0" rIns="0" bIns="0" rtlCol="0" anchor="ctr">
            <a:normAutofit/>
          </a:bodyPr>
          <a:lstStyle/>
          <a:p>
            <a:pPr marL="0" indent="0" algn="r">
              <a:buNone/>
            </a:pPr>
            <a:r>
              <a:rPr lang="en-US" sz="950" b="1" dirty="0">
                <a:solidFill>
                  <a:srgbClr val="082B7F"/>
                </a:solidFill>
                <a:latin typeface="Arial" panose="020B0604020202020204" pitchFamily="34" charset="0"/>
                <a:ea typeface="Arial" panose="020B0604020202020204" pitchFamily="34" charset="-122"/>
                <a:cs typeface="Arial" panose="020B0604020202020204" pitchFamily="34" charset="0"/>
              </a:rPr>
              <a:t>2/10</a:t>
            </a:r>
            <a:endParaRPr lang="en-US" sz="950" dirty="0">
              <a:latin typeface="Arial" panose="020B0604020202020204" pitchFamily="34" charset="0"/>
              <a:cs typeface="Arial" panose="020B0604020202020204" pitchFamily="34" charset="0"/>
            </a:endParaRPr>
          </a:p>
        </p:txBody>
      </p:sp>
      <p:sp>
        <p:nvSpPr>
          <p:cNvPr id="8" name="Text 5"/>
          <p:cNvSpPr/>
          <p:nvPr/>
        </p:nvSpPr>
        <p:spPr>
          <a:xfrm>
            <a:off x="210312" y="6601968"/>
            <a:ext cx="5120640" cy="118872"/>
          </a:xfrm>
          <a:prstGeom prst="rect">
            <a:avLst/>
          </a:prstGeom>
          <a:noFill/>
        </p:spPr>
        <p:txBody>
          <a:bodyPr wrap="square" lIns="0" tIns="0" rIns="0" bIns="0" rtlCol="0" anchor="ctr">
            <a:normAutofit/>
          </a:bodyPr>
          <a:lstStyle/>
          <a:p>
            <a:pPr marL="0" indent="0">
              <a:buNone/>
            </a:pPr>
            <a:r>
              <a:rPr lang="en-US" sz="560" dirty="0">
                <a:solidFill>
                  <a:srgbClr val="5E6F8A"/>
                </a:solidFill>
                <a:latin typeface="Arial" panose="020B0604020202020204" pitchFamily="34" charset="0"/>
                <a:ea typeface="Arial" panose="020B0604020202020204" pitchFamily="34" charset="-122"/>
                <a:cs typeface="Arial" panose="020B0604020202020204" pitchFamily="34" charset="0"/>
              </a:rPr>
              <a:t>LakbayPoints • MMITS Bagong Gawi, Bagong Galaw Challenge</a:t>
            </a:r>
            <a:endParaRPr lang="en-US" sz="560" dirty="0">
              <a:latin typeface="Arial" panose="020B0604020202020204" pitchFamily="34" charset="0"/>
              <a:cs typeface="Arial" panose="020B0604020202020204" pitchFamily="34" charset="0"/>
            </a:endParaRPr>
          </a:p>
        </p:txBody>
      </p:sp>
      <p:sp>
        <p:nvSpPr>
          <p:cNvPr id="9" name="Text 6"/>
          <p:cNvSpPr/>
          <p:nvPr/>
        </p:nvSpPr>
        <p:spPr>
          <a:xfrm>
            <a:off x="11484864" y="6537960"/>
            <a:ext cx="228600" cy="109728"/>
          </a:xfrm>
          <a:prstGeom prst="rect">
            <a:avLst/>
          </a:prstGeom>
          <a:noFill/>
        </p:spPr>
        <p:txBody>
          <a:bodyPr wrap="square" lIns="0" tIns="0" rIns="0" bIns="0" rtlCol="0" anchor="ctr">
            <a:normAutofit/>
          </a:bodyPr>
          <a:lstStyle/>
          <a:p>
            <a:pPr marL="0" indent="0" algn="r">
              <a:buNone/>
            </a:pPr>
            <a:r>
              <a:rPr lang="en-US" sz="550" dirty="0">
                <a:solidFill>
                  <a:srgbClr val="8492A6"/>
                </a:solidFill>
                <a:latin typeface="Arial" panose="020B0604020202020204" pitchFamily="34" charset="0"/>
                <a:ea typeface="Arial" panose="020B0604020202020204" pitchFamily="34" charset="-122"/>
                <a:cs typeface="Arial" panose="020B0604020202020204" pitchFamily="34" charset="0"/>
              </a:rPr>
              <a:t>2</a:t>
            </a:r>
            <a:endParaRPr lang="en-US" sz="550" dirty="0">
              <a:latin typeface="Arial" panose="020B0604020202020204" pitchFamily="34" charset="0"/>
              <a:cs typeface="Arial" panose="020B0604020202020204" pitchFamily="34" charset="0"/>
            </a:endParaRPr>
          </a:p>
        </p:txBody>
      </p:sp>
      <p:sp>
        <p:nvSpPr>
          <p:cNvPr id="10" name="Shape 7"/>
          <p:cNvSpPr/>
          <p:nvPr/>
        </p:nvSpPr>
        <p:spPr>
          <a:xfrm>
            <a:off x="384048" y="987552"/>
            <a:ext cx="1938528" cy="5303520"/>
          </a:xfrm>
          <a:prstGeom prst="roundRect">
            <a:avLst>
              <a:gd name="adj" fmla="val 4245"/>
            </a:avLst>
          </a:prstGeom>
          <a:solidFill>
            <a:srgbClr val="FFFFFF"/>
          </a:solidFill>
          <a:ln w="12700">
            <a:solidFill>
              <a:srgbClr val="D7E2F2"/>
            </a:solidFill>
            <a:prstDash val="solid"/>
          </a:ln>
          <a:effectLst>
            <a:outerShdw blurRad="12700" dist="50800" dir="2700000" algn="bl" rotWithShape="0">
              <a:srgbClr val="9AA9C1">
                <a:alpha val="12000"/>
              </a:srgbClr>
            </a:outerShdw>
          </a:effectLst>
        </p:spPr>
        <p:txBody>
          <a:bodyPr/>
          <a:lstStyle/>
          <a:p>
            <a:endParaRPr lang="en-PH">
              <a:latin typeface="Arial" panose="020B0604020202020204" pitchFamily="34" charset="0"/>
              <a:cs typeface="Arial" panose="020B0604020202020204" pitchFamily="34" charset="0"/>
            </a:endParaRPr>
          </a:p>
        </p:txBody>
      </p:sp>
      <p:sp>
        <p:nvSpPr>
          <p:cNvPr id="12" name="Text 8"/>
          <p:cNvSpPr/>
          <p:nvPr/>
        </p:nvSpPr>
        <p:spPr>
          <a:xfrm>
            <a:off x="612648" y="2496312"/>
            <a:ext cx="1417320" cy="457200"/>
          </a:xfrm>
          <a:prstGeom prst="rect">
            <a:avLst/>
          </a:prstGeom>
          <a:noFill/>
        </p:spPr>
        <p:txBody>
          <a:bodyPr wrap="square" lIns="0" tIns="0" rIns="0" bIns="0" rtlCol="0" anchor="ctr">
            <a:normAutofit fontScale="92500" lnSpcReduction="20000"/>
          </a:bodyPr>
          <a:lstStyle/>
          <a:p>
            <a:pPr marL="0" indent="0" algn="ctr">
              <a:buNone/>
            </a:pPr>
            <a:r>
              <a:rPr lang="en-US" sz="1900" b="1" dirty="0">
                <a:solidFill>
                  <a:srgbClr val="082B7F"/>
                </a:solidFill>
                <a:latin typeface="Arial" panose="020B0604020202020204" pitchFamily="34" charset="0"/>
                <a:ea typeface="Arial" panose="020B0604020202020204" pitchFamily="34" charset="-122"/>
                <a:cs typeface="Arial" panose="020B0604020202020204" pitchFamily="34" charset="0"/>
              </a:rPr>
              <a:t>Core</a:t>
            </a:r>
            <a:endParaRPr lang="en-US" sz="1900" dirty="0">
              <a:latin typeface="Arial" panose="020B0604020202020204" pitchFamily="34" charset="0"/>
              <a:cs typeface="Arial" panose="020B0604020202020204" pitchFamily="34" charset="0"/>
            </a:endParaRPr>
          </a:p>
          <a:p>
            <a:pPr marL="0" indent="0" algn="ctr">
              <a:buNone/>
            </a:pPr>
            <a:r>
              <a:rPr lang="en-US" sz="1900" b="1" dirty="0">
                <a:solidFill>
                  <a:srgbClr val="082B7F"/>
                </a:solidFill>
                <a:latin typeface="Arial" panose="020B0604020202020204" pitchFamily="34" charset="0"/>
                <a:ea typeface="Arial" panose="020B0604020202020204" pitchFamily="34" charset="-122"/>
                <a:cs typeface="Arial" panose="020B0604020202020204" pitchFamily="34" charset="0"/>
              </a:rPr>
              <a:t>Capability</a:t>
            </a:r>
            <a:endParaRPr lang="en-US" sz="1900" dirty="0">
              <a:latin typeface="Arial" panose="020B0604020202020204" pitchFamily="34" charset="0"/>
              <a:cs typeface="Arial" panose="020B0604020202020204" pitchFamily="34" charset="0"/>
            </a:endParaRPr>
          </a:p>
        </p:txBody>
      </p:sp>
      <p:pic>
        <p:nvPicPr>
          <p:cNvPr id="13" name="Image 2" descr="/mnt/data/pptx_extract/ppt/media/image2.png"/>
          <p:cNvPicPr>
            <a:picLocks noChangeAspect="1"/>
          </p:cNvPicPr>
          <p:nvPr/>
        </p:nvPicPr>
        <p:blipFill>
          <a:blip r:embed="rId4"/>
          <a:stretch>
            <a:fillRect/>
          </a:stretch>
        </p:blipFill>
        <p:spPr>
          <a:xfrm>
            <a:off x="1005840" y="3035808"/>
            <a:ext cx="658368" cy="658368"/>
          </a:xfrm>
          <a:prstGeom prst="rect">
            <a:avLst/>
          </a:prstGeom>
        </p:spPr>
      </p:pic>
      <p:sp>
        <p:nvSpPr>
          <p:cNvPr id="14" name="Text 9"/>
          <p:cNvSpPr/>
          <p:nvPr/>
        </p:nvSpPr>
        <p:spPr>
          <a:xfrm>
            <a:off x="0" y="4959350"/>
            <a:ext cx="2721624" cy="1067436"/>
          </a:xfrm>
          <a:prstGeom prst="rect">
            <a:avLst/>
          </a:prstGeom>
          <a:noFill/>
        </p:spPr>
        <p:txBody>
          <a:bodyPr wrap="square" lIns="0" tIns="0" rIns="0" bIns="0" rtlCol="0" anchor="ctr">
            <a:noAutofit/>
          </a:bodyPr>
          <a:lstStyle/>
          <a:p>
            <a:pPr algn="ctr"/>
            <a:r>
              <a:rPr lang="en-PH" sz="900" dirty="0">
                <a:solidFill>
                  <a:schemeClr val="bg1">
                    <a:lumMod val="50000"/>
                  </a:schemeClr>
                </a:solidFill>
                <a:latin typeface="Arial" panose="020B0604020202020204" pitchFamily="34" charset="0"/>
                <a:cs typeface="Arial" panose="020B0604020202020204" pitchFamily="34" charset="0"/>
              </a:rPr>
              <a:t>Transportation Engineering</a:t>
            </a:r>
          </a:p>
          <a:p>
            <a:pPr algn="ctr"/>
            <a:r>
              <a:rPr lang="en-PH" sz="900" dirty="0">
                <a:solidFill>
                  <a:schemeClr val="bg1">
                    <a:lumMod val="50000"/>
                  </a:schemeClr>
                </a:solidFill>
                <a:latin typeface="Arial" panose="020B0604020202020204" pitchFamily="34" charset="0"/>
                <a:cs typeface="Arial" panose="020B0604020202020204" pitchFamily="34" charset="0"/>
              </a:rPr>
              <a:t>Big Data and Cloud Computing </a:t>
            </a:r>
          </a:p>
          <a:p>
            <a:pPr algn="ctr"/>
            <a:r>
              <a:rPr lang="en-PH" sz="900" dirty="0">
                <a:solidFill>
                  <a:schemeClr val="bg1">
                    <a:lumMod val="50000"/>
                  </a:schemeClr>
                </a:solidFill>
                <a:latin typeface="Arial" panose="020B0604020202020204" pitchFamily="34" charset="0"/>
                <a:cs typeface="Arial" panose="020B0604020202020204" pitchFamily="34" charset="0"/>
              </a:rPr>
              <a:t>Artificial Intelligence </a:t>
            </a:r>
          </a:p>
          <a:p>
            <a:pPr algn="ctr"/>
            <a:r>
              <a:rPr lang="en-PH" sz="900" dirty="0">
                <a:solidFill>
                  <a:schemeClr val="bg1">
                    <a:lumMod val="50000"/>
                  </a:schemeClr>
                </a:solidFill>
                <a:latin typeface="Arial" panose="020B0604020202020204" pitchFamily="34" charset="0"/>
                <a:cs typeface="Arial" panose="020B0604020202020204" pitchFamily="34" charset="0"/>
              </a:rPr>
              <a:t>Cybersecurity</a:t>
            </a:r>
          </a:p>
          <a:p>
            <a:pPr algn="ctr"/>
            <a:r>
              <a:rPr lang="en-PH" sz="900" dirty="0">
                <a:solidFill>
                  <a:schemeClr val="bg1">
                    <a:lumMod val="50000"/>
                  </a:schemeClr>
                </a:solidFill>
                <a:latin typeface="Arial" panose="020B0604020202020204" pitchFamily="34" charset="0"/>
                <a:cs typeface="Arial" panose="020B0604020202020204" pitchFamily="34" charset="0"/>
              </a:rPr>
              <a:t>Fraud Prevention</a:t>
            </a:r>
          </a:p>
          <a:p>
            <a:pPr algn="ctr"/>
            <a:r>
              <a:rPr lang="en-PH" sz="900" dirty="0">
                <a:solidFill>
                  <a:schemeClr val="bg1">
                    <a:lumMod val="50000"/>
                  </a:schemeClr>
                </a:solidFill>
                <a:latin typeface="Arial" panose="020B0604020202020204" pitchFamily="34" charset="0"/>
                <a:cs typeface="Arial" panose="020B0604020202020204" pitchFamily="34" charset="0"/>
              </a:rPr>
              <a:t> Geospatial Technology and </a:t>
            </a:r>
          </a:p>
          <a:p>
            <a:pPr algn="ctr"/>
            <a:r>
              <a:rPr lang="en-PH" sz="900" dirty="0">
                <a:solidFill>
                  <a:schemeClr val="bg1">
                    <a:lumMod val="50000"/>
                  </a:schemeClr>
                </a:solidFill>
                <a:latin typeface="Arial" panose="020B0604020202020204" pitchFamily="34" charset="0"/>
                <a:cs typeface="Arial" panose="020B0604020202020204" pitchFamily="34" charset="0"/>
              </a:rPr>
              <a:t>Geographic Information Systems                                                               eMobility R&amp;D Center (EMRDC)</a:t>
            </a:r>
            <a:endParaRPr lang="en-US" sz="900" dirty="0">
              <a:solidFill>
                <a:schemeClr val="bg1">
                  <a:lumMod val="50000"/>
                </a:schemeClr>
              </a:solidFill>
              <a:latin typeface="Arial" panose="020B0604020202020204" pitchFamily="34" charset="0"/>
              <a:cs typeface="Arial" panose="020B0604020202020204" pitchFamily="34" charset="0"/>
            </a:endParaRPr>
          </a:p>
        </p:txBody>
      </p:sp>
      <p:grpSp>
        <p:nvGrpSpPr>
          <p:cNvPr id="63" name="Group 62">
            <a:extLst>
              <a:ext uri="{FF2B5EF4-FFF2-40B4-BE49-F238E27FC236}">
                <a16:creationId xmlns:a16="http://schemas.microsoft.com/office/drawing/2014/main" id="{6033A1B0-62A7-17FC-4036-37EE3949B2D7}"/>
              </a:ext>
            </a:extLst>
          </p:cNvPr>
          <p:cNvGrpSpPr/>
          <p:nvPr/>
        </p:nvGrpSpPr>
        <p:grpSpPr>
          <a:xfrm>
            <a:off x="5362227" y="4513830"/>
            <a:ext cx="2140425" cy="1220781"/>
            <a:chOff x="9457040" y="4636008"/>
            <a:chExt cx="2148840" cy="1225579"/>
          </a:xfrm>
        </p:grpSpPr>
        <p:grpSp>
          <p:nvGrpSpPr>
            <p:cNvPr id="59" name="Group 58">
              <a:extLst>
                <a:ext uri="{FF2B5EF4-FFF2-40B4-BE49-F238E27FC236}">
                  <a16:creationId xmlns:a16="http://schemas.microsoft.com/office/drawing/2014/main" id="{81B5A880-9800-6740-95BC-4BC2E4850AC7}"/>
                </a:ext>
              </a:extLst>
            </p:cNvPr>
            <p:cNvGrpSpPr/>
            <p:nvPr/>
          </p:nvGrpSpPr>
          <p:grpSpPr>
            <a:xfrm>
              <a:off x="10040112" y="4636008"/>
              <a:ext cx="896112" cy="896112"/>
              <a:chOff x="10040112" y="4636008"/>
              <a:chExt cx="603504" cy="603504"/>
            </a:xfrm>
          </p:grpSpPr>
          <p:pic>
            <p:nvPicPr>
              <p:cNvPr id="45" name="Image 10" descr="/mnt/data/pptx_extract/ppt/media/image10.png"/>
              <p:cNvPicPr>
                <a:picLocks noChangeAspect="1"/>
              </p:cNvPicPr>
              <p:nvPr/>
            </p:nvPicPr>
            <p:blipFill>
              <a:blip r:embed="rId5"/>
              <a:srcRect/>
              <a:stretch>
                <a:fillRect/>
              </a:stretch>
            </p:blipFill>
            <p:spPr>
              <a:xfrm>
                <a:off x="10040112" y="4636008"/>
                <a:ext cx="603504" cy="603504"/>
              </a:xfrm>
              <a:prstGeom prst="rect">
                <a:avLst/>
              </a:prstGeom>
            </p:spPr>
          </p:pic>
          <p:sp>
            <p:nvSpPr>
              <p:cNvPr id="46" name="Shape 33"/>
              <p:cNvSpPr/>
              <p:nvPr/>
            </p:nvSpPr>
            <p:spPr>
              <a:xfrm>
                <a:off x="10040112" y="4636008"/>
                <a:ext cx="603504" cy="603504"/>
              </a:xfrm>
              <a:prstGeom prst="ellipse">
                <a:avLst/>
              </a:prstGeom>
              <a:solidFill>
                <a:srgbClr val="FFFFFF">
                  <a:alpha val="0"/>
                </a:srgbClr>
              </a:solidFill>
              <a:ln w="1524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grpSp>
        <p:sp>
          <p:nvSpPr>
            <p:cNvPr id="47" name="Text 34"/>
            <p:cNvSpPr/>
            <p:nvPr/>
          </p:nvSpPr>
          <p:spPr>
            <a:xfrm>
              <a:off x="9457040" y="5590413"/>
              <a:ext cx="2148840" cy="164592"/>
            </a:xfrm>
            <a:prstGeom prst="rect">
              <a:avLst/>
            </a:prstGeom>
            <a:noFill/>
          </p:spPr>
          <p:txBody>
            <a:bodyPr wrap="square" lIns="0" tIns="0" rIns="0" bIns="0" rtlCol="0" anchor="ctr">
              <a:normAutofit/>
            </a:bodyPr>
            <a:lstStyle/>
            <a:p>
              <a:pPr marL="0" indent="0" algn="ctr">
                <a:buNone/>
              </a:pPr>
              <a:r>
                <a:rPr lang="en-US" sz="900" b="1" dirty="0">
                  <a:solidFill>
                    <a:srgbClr val="082B7F"/>
                  </a:solidFill>
                  <a:latin typeface="Arial" panose="020B0604020202020204" pitchFamily="34" charset="0"/>
                  <a:ea typeface="Arial" panose="020B0604020202020204" pitchFamily="34" charset="-122"/>
                  <a:cs typeface="Arial" panose="020B0604020202020204" pitchFamily="34" charset="0"/>
                </a:rPr>
                <a:t>Prof. Fernando M. Jaminola Jr., MIT</a:t>
              </a:r>
              <a:endParaRPr lang="en-US" sz="900" dirty="0">
                <a:latin typeface="Arial" panose="020B0604020202020204" pitchFamily="34" charset="0"/>
                <a:cs typeface="Arial" panose="020B0604020202020204" pitchFamily="34" charset="0"/>
              </a:endParaRPr>
            </a:p>
          </p:txBody>
        </p:sp>
        <p:sp>
          <p:nvSpPr>
            <p:cNvPr id="48" name="Text 35"/>
            <p:cNvSpPr/>
            <p:nvPr/>
          </p:nvSpPr>
          <p:spPr>
            <a:xfrm>
              <a:off x="9457040" y="5751859"/>
              <a:ext cx="2148840" cy="109728"/>
            </a:xfrm>
            <a:prstGeom prst="rect">
              <a:avLst/>
            </a:prstGeom>
            <a:noFill/>
          </p:spPr>
          <p:txBody>
            <a:bodyPr wrap="square" lIns="0" tIns="0" rIns="0" bIns="0" rtlCol="0" anchor="ctr">
              <a:normAutofit fontScale="92500"/>
            </a:bodyPr>
            <a:lstStyle/>
            <a:p>
              <a:pPr marL="0" indent="0" algn="ctr">
                <a:buNone/>
              </a:pPr>
              <a:r>
                <a:rPr lang="en-US" sz="800" dirty="0">
                  <a:solidFill>
                    <a:srgbClr val="5E6F8A"/>
                  </a:solidFill>
                  <a:latin typeface="Arial" panose="020B0604020202020204" pitchFamily="34" charset="0"/>
                  <a:ea typeface="Arial" panose="020B0604020202020204" pitchFamily="34" charset="-122"/>
                  <a:cs typeface="Arial" panose="020B0604020202020204" pitchFamily="34" charset="0"/>
                </a:rPr>
                <a:t>Technical Consultant</a:t>
              </a:r>
              <a:endParaRPr lang="en-US" sz="800" dirty="0">
                <a:latin typeface="Arial" panose="020B0604020202020204" pitchFamily="34" charset="0"/>
                <a:cs typeface="Arial" panose="020B0604020202020204" pitchFamily="34" charset="0"/>
              </a:endParaRPr>
            </a:p>
          </p:txBody>
        </p:sp>
      </p:grpSp>
      <p:grpSp>
        <p:nvGrpSpPr>
          <p:cNvPr id="66" name="Group 65">
            <a:extLst>
              <a:ext uri="{FF2B5EF4-FFF2-40B4-BE49-F238E27FC236}">
                <a16:creationId xmlns:a16="http://schemas.microsoft.com/office/drawing/2014/main" id="{69668E3E-54A2-D339-2442-485561C0E339}"/>
              </a:ext>
            </a:extLst>
          </p:cNvPr>
          <p:cNvGrpSpPr/>
          <p:nvPr/>
        </p:nvGrpSpPr>
        <p:grpSpPr>
          <a:xfrm>
            <a:off x="2721624" y="1542964"/>
            <a:ext cx="2950007" cy="1689523"/>
            <a:chOff x="9457040" y="4636008"/>
            <a:chExt cx="2148840" cy="1225579"/>
          </a:xfrm>
        </p:grpSpPr>
        <p:grpSp>
          <p:nvGrpSpPr>
            <p:cNvPr id="67" name="Group 66">
              <a:extLst>
                <a:ext uri="{FF2B5EF4-FFF2-40B4-BE49-F238E27FC236}">
                  <a16:creationId xmlns:a16="http://schemas.microsoft.com/office/drawing/2014/main" id="{DA6A32D6-62C8-316C-251A-ABAF11FD3478}"/>
                </a:ext>
              </a:extLst>
            </p:cNvPr>
            <p:cNvGrpSpPr/>
            <p:nvPr/>
          </p:nvGrpSpPr>
          <p:grpSpPr>
            <a:xfrm>
              <a:off x="10040112" y="4636008"/>
              <a:ext cx="896112" cy="896112"/>
              <a:chOff x="10040112" y="4636008"/>
              <a:chExt cx="603504" cy="603504"/>
            </a:xfrm>
          </p:grpSpPr>
          <p:pic>
            <p:nvPicPr>
              <p:cNvPr id="70" name="Image 10" descr="/mnt/data/pptx_extract/ppt/media/image10.png">
                <a:extLst>
                  <a:ext uri="{FF2B5EF4-FFF2-40B4-BE49-F238E27FC236}">
                    <a16:creationId xmlns:a16="http://schemas.microsoft.com/office/drawing/2014/main" id="{7121DA8C-3CF6-2B18-4345-FB116CE990AD}"/>
                  </a:ext>
                </a:extLst>
              </p:cNvPr>
              <p:cNvPicPr>
                <a:picLocks noChangeAspect="1"/>
              </p:cNvPicPr>
              <p:nvPr/>
            </p:nvPicPr>
            <p:blipFill>
              <a:blip r:embed="rId5"/>
              <a:srcRect/>
              <a:stretch>
                <a:fillRect/>
              </a:stretch>
            </p:blipFill>
            <p:spPr>
              <a:xfrm>
                <a:off x="10040112" y="4636008"/>
                <a:ext cx="603504" cy="603504"/>
              </a:xfrm>
              <a:prstGeom prst="rect">
                <a:avLst/>
              </a:prstGeom>
            </p:spPr>
          </p:pic>
          <p:sp>
            <p:nvSpPr>
              <p:cNvPr id="72" name="Shape 33">
                <a:extLst>
                  <a:ext uri="{FF2B5EF4-FFF2-40B4-BE49-F238E27FC236}">
                    <a16:creationId xmlns:a16="http://schemas.microsoft.com/office/drawing/2014/main" id="{350E809C-7F19-E557-E6A3-46DD2D671A92}"/>
                  </a:ext>
                </a:extLst>
              </p:cNvPr>
              <p:cNvSpPr/>
              <p:nvPr/>
            </p:nvSpPr>
            <p:spPr>
              <a:xfrm>
                <a:off x="10040112" y="4636008"/>
                <a:ext cx="603504" cy="603504"/>
              </a:xfrm>
              <a:prstGeom prst="ellipse">
                <a:avLst/>
              </a:prstGeom>
              <a:solidFill>
                <a:srgbClr val="FFFFFF">
                  <a:alpha val="0"/>
                </a:srgbClr>
              </a:solidFill>
              <a:ln w="15240">
                <a:solidFill>
                  <a:srgbClr val="0036B8"/>
                </a:solidFill>
                <a:prstDash val="solid"/>
              </a:ln>
            </p:spPr>
            <p:txBody>
              <a:bodyPr/>
              <a:lstStyle/>
              <a:p>
                <a:endParaRPr lang="en-PH" dirty="0">
                  <a:latin typeface="Arial" panose="020B0604020202020204" pitchFamily="34" charset="0"/>
                  <a:cs typeface="Arial" panose="020B0604020202020204" pitchFamily="34" charset="0"/>
                </a:endParaRPr>
              </a:p>
            </p:txBody>
          </p:sp>
        </p:grpSp>
        <p:sp>
          <p:nvSpPr>
            <p:cNvPr id="68" name="Text 34">
              <a:extLst>
                <a:ext uri="{FF2B5EF4-FFF2-40B4-BE49-F238E27FC236}">
                  <a16:creationId xmlns:a16="http://schemas.microsoft.com/office/drawing/2014/main" id="{BE94EC83-FC57-C0B7-329D-3BFE866011FD}"/>
                </a:ext>
              </a:extLst>
            </p:cNvPr>
            <p:cNvSpPr/>
            <p:nvPr/>
          </p:nvSpPr>
          <p:spPr>
            <a:xfrm>
              <a:off x="9457040" y="5590413"/>
              <a:ext cx="2148840" cy="164592"/>
            </a:xfrm>
            <a:prstGeom prst="rect">
              <a:avLst/>
            </a:prstGeom>
            <a:noFill/>
          </p:spPr>
          <p:txBody>
            <a:bodyPr wrap="square" lIns="0" tIns="0" rIns="0" bIns="0" rtlCol="0" anchor="ctr">
              <a:normAutofit/>
            </a:bodyPr>
            <a:lstStyle/>
            <a:p>
              <a:pPr marL="0" indent="0" algn="ctr">
                <a:buNone/>
              </a:pPr>
              <a:r>
                <a:rPr lang="en-US" sz="900" b="1" dirty="0">
                  <a:solidFill>
                    <a:srgbClr val="082B7F"/>
                  </a:solidFill>
                  <a:latin typeface="Arial" panose="020B0604020202020204" pitchFamily="34" charset="0"/>
                  <a:ea typeface="Arial" panose="020B0604020202020204" pitchFamily="34" charset="-122"/>
                  <a:cs typeface="Arial" panose="020B0604020202020204" pitchFamily="34" charset="0"/>
                </a:rPr>
                <a:t>Prof. Fernando M. Jaminola Jr., MIT</a:t>
              </a:r>
              <a:endParaRPr lang="en-US" sz="900" dirty="0">
                <a:latin typeface="Arial" panose="020B0604020202020204" pitchFamily="34" charset="0"/>
                <a:cs typeface="Arial" panose="020B0604020202020204" pitchFamily="34" charset="0"/>
              </a:endParaRPr>
            </a:p>
          </p:txBody>
        </p:sp>
        <p:sp>
          <p:nvSpPr>
            <p:cNvPr id="69" name="Text 35">
              <a:extLst>
                <a:ext uri="{FF2B5EF4-FFF2-40B4-BE49-F238E27FC236}">
                  <a16:creationId xmlns:a16="http://schemas.microsoft.com/office/drawing/2014/main" id="{F29C8AC5-B51D-A04E-2204-95D55F062387}"/>
                </a:ext>
              </a:extLst>
            </p:cNvPr>
            <p:cNvSpPr/>
            <p:nvPr/>
          </p:nvSpPr>
          <p:spPr>
            <a:xfrm>
              <a:off x="9457040" y="5751859"/>
              <a:ext cx="2148840" cy="109728"/>
            </a:xfrm>
            <a:prstGeom prst="rect">
              <a:avLst/>
            </a:prstGeom>
            <a:noFill/>
          </p:spPr>
          <p:txBody>
            <a:bodyPr wrap="square" lIns="0" tIns="0" rIns="0" bIns="0" rtlCol="0" anchor="ctr">
              <a:normAutofit/>
            </a:bodyPr>
            <a:lstStyle/>
            <a:p>
              <a:pPr marL="0" indent="0" algn="ctr">
                <a:buNone/>
              </a:pPr>
              <a:r>
                <a:rPr lang="en-US" sz="800" dirty="0">
                  <a:solidFill>
                    <a:srgbClr val="5E6F8A"/>
                  </a:solidFill>
                  <a:latin typeface="Arial" panose="020B0604020202020204" pitchFamily="34" charset="0"/>
                  <a:ea typeface="Arial" panose="020B0604020202020204" pitchFamily="34" charset="-122"/>
                  <a:cs typeface="Arial" panose="020B0604020202020204" pitchFamily="34" charset="0"/>
                </a:rPr>
                <a:t>Technical Consultant</a:t>
              </a:r>
              <a:endParaRPr lang="en-US" sz="800" dirty="0">
                <a:latin typeface="Arial" panose="020B0604020202020204" pitchFamily="34" charset="0"/>
                <a:cs typeface="Arial" panose="020B0604020202020204" pitchFamily="34" charset="0"/>
              </a:endParaRPr>
            </a:p>
          </p:txBody>
        </p:sp>
      </p:grpSp>
      <p:grpSp>
        <p:nvGrpSpPr>
          <p:cNvPr id="74" name="Group 73">
            <a:extLst>
              <a:ext uri="{FF2B5EF4-FFF2-40B4-BE49-F238E27FC236}">
                <a16:creationId xmlns:a16="http://schemas.microsoft.com/office/drawing/2014/main" id="{82E8CECA-830F-65A7-E88A-63463125E679}"/>
              </a:ext>
            </a:extLst>
          </p:cNvPr>
          <p:cNvGrpSpPr/>
          <p:nvPr/>
        </p:nvGrpSpPr>
        <p:grpSpPr>
          <a:xfrm>
            <a:off x="5495977" y="1484321"/>
            <a:ext cx="3036252" cy="1672533"/>
            <a:chOff x="9457040" y="4636008"/>
            <a:chExt cx="2148840" cy="1225579"/>
          </a:xfrm>
        </p:grpSpPr>
        <p:grpSp>
          <p:nvGrpSpPr>
            <p:cNvPr id="75" name="Group 74">
              <a:extLst>
                <a:ext uri="{FF2B5EF4-FFF2-40B4-BE49-F238E27FC236}">
                  <a16:creationId xmlns:a16="http://schemas.microsoft.com/office/drawing/2014/main" id="{954C90E1-D88E-A3FB-9656-86B73938A690}"/>
                </a:ext>
              </a:extLst>
            </p:cNvPr>
            <p:cNvGrpSpPr/>
            <p:nvPr/>
          </p:nvGrpSpPr>
          <p:grpSpPr>
            <a:xfrm>
              <a:off x="10040112" y="4636008"/>
              <a:ext cx="896112" cy="896112"/>
              <a:chOff x="10040112" y="4636008"/>
              <a:chExt cx="603504" cy="603504"/>
            </a:xfrm>
          </p:grpSpPr>
          <p:pic>
            <p:nvPicPr>
              <p:cNvPr id="78" name="Image 10" descr="/mnt/data/pptx_extract/ppt/media/image10.png">
                <a:extLst>
                  <a:ext uri="{FF2B5EF4-FFF2-40B4-BE49-F238E27FC236}">
                    <a16:creationId xmlns:a16="http://schemas.microsoft.com/office/drawing/2014/main" id="{253B926D-370A-2A74-4F0A-7076B7822D2D}"/>
                  </a:ext>
                </a:extLst>
              </p:cNvPr>
              <p:cNvPicPr>
                <a:picLocks noChangeAspect="1"/>
              </p:cNvPicPr>
              <p:nvPr/>
            </p:nvPicPr>
            <p:blipFill>
              <a:blip r:embed="rId5"/>
              <a:srcRect/>
              <a:stretch>
                <a:fillRect/>
              </a:stretch>
            </p:blipFill>
            <p:spPr>
              <a:xfrm>
                <a:off x="10040112" y="4636008"/>
                <a:ext cx="603504" cy="603504"/>
              </a:xfrm>
              <a:prstGeom prst="rect">
                <a:avLst/>
              </a:prstGeom>
            </p:spPr>
          </p:pic>
          <p:sp>
            <p:nvSpPr>
              <p:cNvPr id="79" name="Shape 33">
                <a:extLst>
                  <a:ext uri="{FF2B5EF4-FFF2-40B4-BE49-F238E27FC236}">
                    <a16:creationId xmlns:a16="http://schemas.microsoft.com/office/drawing/2014/main" id="{ACAE3A12-AA20-66BC-475D-5DDB2928938F}"/>
                  </a:ext>
                </a:extLst>
              </p:cNvPr>
              <p:cNvSpPr/>
              <p:nvPr/>
            </p:nvSpPr>
            <p:spPr>
              <a:xfrm>
                <a:off x="10040112" y="4636008"/>
                <a:ext cx="603504" cy="603504"/>
              </a:xfrm>
              <a:prstGeom prst="ellipse">
                <a:avLst/>
              </a:prstGeom>
              <a:solidFill>
                <a:srgbClr val="FFFFFF">
                  <a:alpha val="0"/>
                </a:srgbClr>
              </a:solidFill>
              <a:ln w="1524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grpSp>
        <p:sp>
          <p:nvSpPr>
            <p:cNvPr id="76" name="Text 34">
              <a:extLst>
                <a:ext uri="{FF2B5EF4-FFF2-40B4-BE49-F238E27FC236}">
                  <a16:creationId xmlns:a16="http://schemas.microsoft.com/office/drawing/2014/main" id="{C2A86EB7-F636-ECDB-DC46-8F60FDA1AA66}"/>
                </a:ext>
              </a:extLst>
            </p:cNvPr>
            <p:cNvSpPr/>
            <p:nvPr/>
          </p:nvSpPr>
          <p:spPr>
            <a:xfrm>
              <a:off x="9457040" y="5590413"/>
              <a:ext cx="2148840" cy="164592"/>
            </a:xfrm>
            <a:prstGeom prst="rect">
              <a:avLst/>
            </a:prstGeom>
            <a:noFill/>
          </p:spPr>
          <p:txBody>
            <a:bodyPr wrap="square" lIns="0" tIns="0" rIns="0" bIns="0" rtlCol="0" anchor="ctr">
              <a:normAutofit/>
            </a:bodyPr>
            <a:lstStyle/>
            <a:p>
              <a:pPr marL="0" indent="0" algn="ctr">
                <a:buNone/>
              </a:pPr>
              <a:r>
                <a:rPr lang="en-US" sz="900" b="1" dirty="0">
                  <a:solidFill>
                    <a:srgbClr val="082B7F"/>
                  </a:solidFill>
                  <a:latin typeface="Arial" panose="020B0604020202020204" pitchFamily="34" charset="0"/>
                  <a:ea typeface="Arial" panose="020B0604020202020204" pitchFamily="34" charset="-122"/>
                  <a:cs typeface="Arial" panose="020B0604020202020204" pitchFamily="34" charset="0"/>
                </a:rPr>
                <a:t>Prof. Fernando M. Jaminola Jr., MIT</a:t>
              </a:r>
              <a:endParaRPr lang="en-US" sz="900" dirty="0">
                <a:latin typeface="Arial" panose="020B0604020202020204" pitchFamily="34" charset="0"/>
                <a:cs typeface="Arial" panose="020B0604020202020204" pitchFamily="34" charset="0"/>
              </a:endParaRPr>
            </a:p>
          </p:txBody>
        </p:sp>
        <p:sp>
          <p:nvSpPr>
            <p:cNvPr id="77" name="Text 35">
              <a:extLst>
                <a:ext uri="{FF2B5EF4-FFF2-40B4-BE49-F238E27FC236}">
                  <a16:creationId xmlns:a16="http://schemas.microsoft.com/office/drawing/2014/main" id="{820991C8-E08A-A8DB-6331-351238DB8AE2}"/>
                </a:ext>
              </a:extLst>
            </p:cNvPr>
            <p:cNvSpPr/>
            <p:nvPr/>
          </p:nvSpPr>
          <p:spPr>
            <a:xfrm>
              <a:off x="9457040" y="5751859"/>
              <a:ext cx="2148840" cy="109728"/>
            </a:xfrm>
            <a:prstGeom prst="rect">
              <a:avLst/>
            </a:prstGeom>
            <a:noFill/>
          </p:spPr>
          <p:txBody>
            <a:bodyPr wrap="square" lIns="0" tIns="0" rIns="0" bIns="0" rtlCol="0" anchor="ctr">
              <a:normAutofit/>
            </a:bodyPr>
            <a:lstStyle/>
            <a:p>
              <a:pPr marL="0" indent="0" algn="ctr">
                <a:buNone/>
              </a:pPr>
              <a:r>
                <a:rPr lang="en-US" sz="800" dirty="0">
                  <a:solidFill>
                    <a:srgbClr val="5E6F8A"/>
                  </a:solidFill>
                  <a:latin typeface="Arial" panose="020B0604020202020204" pitchFamily="34" charset="0"/>
                  <a:ea typeface="Arial" panose="020B0604020202020204" pitchFamily="34" charset="-122"/>
                  <a:cs typeface="Arial" panose="020B0604020202020204" pitchFamily="34" charset="0"/>
                </a:rPr>
                <a:t>Technical Consultant</a:t>
              </a:r>
              <a:endParaRPr lang="en-US" sz="800" dirty="0">
                <a:latin typeface="Arial" panose="020B0604020202020204" pitchFamily="34" charset="0"/>
                <a:cs typeface="Arial" panose="020B0604020202020204" pitchFamily="34" charset="0"/>
              </a:endParaRPr>
            </a:p>
          </p:txBody>
        </p:sp>
      </p:grpSp>
      <p:grpSp>
        <p:nvGrpSpPr>
          <p:cNvPr id="80" name="Group 79">
            <a:extLst>
              <a:ext uri="{FF2B5EF4-FFF2-40B4-BE49-F238E27FC236}">
                <a16:creationId xmlns:a16="http://schemas.microsoft.com/office/drawing/2014/main" id="{8F17E020-434F-C8D9-C6AA-60C00E59A19D}"/>
              </a:ext>
            </a:extLst>
          </p:cNvPr>
          <p:cNvGrpSpPr/>
          <p:nvPr/>
        </p:nvGrpSpPr>
        <p:grpSpPr>
          <a:xfrm>
            <a:off x="8863041" y="1433666"/>
            <a:ext cx="2842589" cy="1798821"/>
            <a:chOff x="9457040" y="4636008"/>
            <a:chExt cx="2148840" cy="1225579"/>
          </a:xfrm>
        </p:grpSpPr>
        <p:grpSp>
          <p:nvGrpSpPr>
            <p:cNvPr id="81" name="Group 80">
              <a:extLst>
                <a:ext uri="{FF2B5EF4-FFF2-40B4-BE49-F238E27FC236}">
                  <a16:creationId xmlns:a16="http://schemas.microsoft.com/office/drawing/2014/main" id="{749AB33A-5AB9-1D3E-12A8-E0F256EBCC0D}"/>
                </a:ext>
              </a:extLst>
            </p:cNvPr>
            <p:cNvGrpSpPr/>
            <p:nvPr/>
          </p:nvGrpSpPr>
          <p:grpSpPr>
            <a:xfrm>
              <a:off x="10040112" y="4636008"/>
              <a:ext cx="896112" cy="896112"/>
              <a:chOff x="10040112" y="4636008"/>
              <a:chExt cx="603504" cy="603504"/>
            </a:xfrm>
          </p:grpSpPr>
          <p:pic>
            <p:nvPicPr>
              <p:cNvPr id="84" name="Image 10" descr="/mnt/data/pptx_extract/ppt/media/image10.png">
                <a:extLst>
                  <a:ext uri="{FF2B5EF4-FFF2-40B4-BE49-F238E27FC236}">
                    <a16:creationId xmlns:a16="http://schemas.microsoft.com/office/drawing/2014/main" id="{86A71854-4ECE-5C8C-F60F-BF10534199B4}"/>
                  </a:ext>
                </a:extLst>
              </p:cNvPr>
              <p:cNvPicPr>
                <a:picLocks noChangeAspect="1"/>
              </p:cNvPicPr>
              <p:nvPr/>
            </p:nvPicPr>
            <p:blipFill>
              <a:blip r:embed="rId5"/>
              <a:srcRect/>
              <a:stretch>
                <a:fillRect/>
              </a:stretch>
            </p:blipFill>
            <p:spPr>
              <a:xfrm>
                <a:off x="10040112" y="4636008"/>
                <a:ext cx="603504" cy="603504"/>
              </a:xfrm>
              <a:prstGeom prst="rect">
                <a:avLst/>
              </a:prstGeom>
            </p:spPr>
          </p:pic>
          <p:sp>
            <p:nvSpPr>
              <p:cNvPr id="85" name="Shape 33">
                <a:extLst>
                  <a:ext uri="{FF2B5EF4-FFF2-40B4-BE49-F238E27FC236}">
                    <a16:creationId xmlns:a16="http://schemas.microsoft.com/office/drawing/2014/main" id="{74A350CC-D33D-5E28-09DA-4771FE8280D3}"/>
                  </a:ext>
                </a:extLst>
              </p:cNvPr>
              <p:cNvSpPr/>
              <p:nvPr/>
            </p:nvSpPr>
            <p:spPr>
              <a:xfrm>
                <a:off x="10040112" y="4636008"/>
                <a:ext cx="603504" cy="603504"/>
              </a:xfrm>
              <a:prstGeom prst="ellipse">
                <a:avLst/>
              </a:prstGeom>
              <a:solidFill>
                <a:srgbClr val="FFFFFF">
                  <a:alpha val="0"/>
                </a:srgbClr>
              </a:solidFill>
              <a:ln w="15240">
                <a:solidFill>
                  <a:srgbClr val="0036B8"/>
                </a:solidFill>
                <a:prstDash val="solid"/>
              </a:ln>
            </p:spPr>
            <p:txBody>
              <a:bodyPr/>
              <a:lstStyle/>
              <a:p>
                <a:endParaRPr lang="en-PH">
                  <a:latin typeface="Arial" panose="020B0604020202020204" pitchFamily="34" charset="0"/>
                  <a:cs typeface="Arial" panose="020B0604020202020204" pitchFamily="34" charset="0"/>
                </a:endParaRPr>
              </a:p>
            </p:txBody>
          </p:sp>
        </p:grpSp>
        <p:sp>
          <p:nvSpPr>
            <p:cNvPr id="82" name="Text 34">
              <a:extLst>
                <a:ext uri="{FF2B5EF4-FFF2-40B4-BE49-F238E27FC236}">
                  <a16:creationId xmlns:a16="http://schemas.microsoft.com/office/drawing/2014/main" id="{1B93CF3C-A647-6004-FD5D-801A1E16CB61}"/>
                </a:ext>
              </a:extLst>
            </p:cNvPr>
            <p:cNvSpPr/>
            <p:nvPr/>
          </p:nvSpPr>
          <p:spPr>
            <a:xfrm>
              <a:off x="9457040" y="5590413"/>
              <a:ext cx="2148840" cy="164592"/>
            </a:xfrm>
            <a:prstGeom prst="rect">
              <a:avLst/>
            </a:prstGeom>
            <a:noFill/>
          </p:spPr>
          <p:txBody>
            <a:bodyPr wrap="square" lIns="0" tIns="0" rIns="0" bIns="0" rtlCol="0" anchor="ctr">
              <a:normAutofit/>
            </a:bodyPr>
            <a:lstStyle/>
            <a:p>
              <a:pPr marL="0" indent="0" algn="ctr">
                <a:buNone/>
              </a:pPr>
              <a:r>
                <a:rPr lang="en-US" sz="900" b="1" dirty="0">
                  <a:solidFill>
                    <a:srgbClr val="082B7F"/>
                  </a:solidFill>
                  <a:latin typeface="Arial" panose="020B0604020202020204" pitchFamily="34" charset="0"/>
                  <a:ea typeface="Arial" panose="020B0604020202020204" pitchFamily="34" charset="-122"/>
                  <a:cs typeface="Arial" panose="020B0604020202020204" pitchFamily="34" charset="0"/>
                </a:rPr>
                <a:t>Prof. Fernando M. Jaminola Jr., MIT</a:t>
              </a:r>
              <a:endParaRPr lang="en-US" sz="900" dirty="0">
                <a:latin typeface="Arial" panose="020B0604020202020204" pitchFamily="34" charset="0"/>
                <a:cs typeface="Arial" panose="020B0604020202020204" pitchFamily="34" charset="0"/>
              </a:endParaRPr>
            </a:p>
          </p:txBody>
        </p:sp>
        <p:sp>
          <p:nvSpPr>
            <p:cNvPr id="83" name="Text 35">
              <a:extLst>
                <a:ext uri="{FF2B5EF4-FFF2-40B4-BE49-F238E27FC236}">
                  <a16:creationId xmlns:a16="http://schemas.microsoft.com/office/drawing/2014/main" id="{0E9520FF-75A0-256B-7C7A-15A058BC85DA}"/>
                </a:ext>
              </a:extLst>
            </p:cNvPr>
            <p:cNvSpPr/>
            <p:nvPr/>
          </p:nvSpPr>
          <p:spPr>
            <a:xfrm>
              <a:off x="9457040" y="5751859"/>
              <a:ext cx="2148840" cy="109728"/>
            </a:xfrm>
            <a:prstGeom prst="rect">
              <a:avLst/>
            </a:prstGeom>
            <a:noFill/>
          </p:spPr>
          <p:txBody>
            <a:bodyPr wrap="square" lIns="0" tIns="0" rIns="0" bIns="0" rtlCol="0" anchor="ctr">
              <a:normAutofit/>
            </a:bodyPr>
            <a:lstStyle/>
            <a:p>
              <a:pPr marL="0" indent="0" algn="ctr">
                <a:buNone/>
              </a:pPr>
              <a:r>
                <a:rPr lang="en-US" sz="800" dirty="0">
                  <a:solidFill>
                    <a:srgbClr val="5E6F8A"/>
                  </a:solidFill>
                  <a:latin typeface="Arial" panose="020B0604020202020204" pitchFamily="34" charset="0"/>
                  <a:ea typeface="Arial" panose="020B0604020202020204" pitchFamily="34" charset="-122"/>
                  <a:cs typeface="Arial" panose="020B0604020202020204" pitchFamily="34" charset="0"/>
                </a:rPr>
                <a:t>Technical Consultant</a:t>
              </a:r>
              <a:endParaRPr lang="en-US" sz="800" dirty="0">
                <a:latin typeface="Arial" panose="020B0604020202020204" pitchFamily="34" charset="0"/>
                <a:cs typeface="Arial" panose="020B0604020202020204" pitchFamily="34" charset="0"/>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1163</TotalTime>
  <Words>1659</Words>
  <Application>Microsoft Macintosh PowerPoint</Application>
  <PresentationFormat>Widescreen</PresentationFormat>
  <Paragraphs>155</Paragraphs>
  <Slides>9</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Cagayan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LakbayPoints Final Pitch Deck - Designer Refined</dc:title>
  <dc:subject>MMITS Bagong Gawi, Bagong Galaw Challenge</dc:subject>
  <dc:creator>LakbayPoints Team</dc:creator>
  <cp:lastModifiedBy>mclein onza</cp:lastModifiedBy>
  <cp:revision>57</cp:revision>
  <dcterms:created xsi:type="dcterms:W3CDTF">2026-07-31T01:54:00Z</dcterms:created>
  <dcterms:modified xsi:type="dcterms:W3CDTF">2026-09-27T06:33:54Z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8FB4914531814B369A987722B4B51FD2_13</vt:lpwstr>
  </property>
</Properties>
</file>